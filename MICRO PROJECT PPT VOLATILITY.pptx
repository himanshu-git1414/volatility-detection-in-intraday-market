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Calibri" panose="020F0502020204030204" pitchFamily="34" charset="0"/>
      <p:regular r:id="rId13"/>
      <p:bold r:id="rId14"/>
      <p:italic r:id="rId15"/>
      <p:boldItalic r:id="rId16"/>
    </p:embeddedFont>
    <p:embeddedFont>
      <p:font typeface="MuseoModerno Medium" panose="020B0604020202020204" charset="0"/>
      <p:regular r:id="rId17"/>
    </p:embeddedFont>
    <p:embeddedFont>
      <p:font typeface="Source Sans 3" panose="020B0604020202020204" charset="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FCF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3690" autoAdjust="0"/>
  </p:normalViewPr>
  <p:slideViewPr>
    <p:cSldViewPr snapToGrid="0" snapToObjects="1">
      <p:cViewPr varScale="1">
        <p:scale>
          <a:sx n="51" d="100"/>
          <a:sy n="51" d="100"/>
        </p:scale>
        <p:origin x="844" y="5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font" Target="fonts/font4.fntdata"/><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19935248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50738C"/>
          </a:solidFill>
          <a:ln/>
        </p:spPr>
      </p:sp>
      <p:sp>
        <p:nvSpPr>
          <p:cNvPr id="3" name="Shape 1"/>
          <p:cNvSpPr/>
          <p:nvPr/>
        </p:nvSpPr>
        <p:spPr>
          <a:xfrm>
            <a:off x="0" y="0"/>
            <a:ext cx="14630400" cy="8229600"/>
          </a:xfrm>
          <a:prstGeom prst="rect">
            <a:avLst/>
          </a:prstGeom>
          <a:solidFill>
            <a:srgbClr val="FFFC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2">
            <a:lumMod val="40000"/>
            <a:lumOff val="60000"/>
            <a:alpha val="67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3.png"/><Relationship Id="rId4" Type="http://schemas.openxmlformats.org/officeDocument/2006/relationships/hyperlink" Target="http://B.Tech" TargetMode="Externa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6.xml"/><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13.svg"/><Relationship Id="rId3" Type="http://schemas.openxmlformats.org/officeDocument/2006/relationships/image" Target="../media/image8.png"/><Relationship Id="rId7" Type="http://schemas.openxmlformats.org/officeDocument/2006/relationships/image" Target="../media/image12.sv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9.png"/></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9.xml"/><Relationship Id="rId4" Type="http://schemas.openxmlformats.org/officeDocument/2006/relationships/image" Target="../media/image14.svg"/></Relationships>
</file>

<file path=ppt/slides/_rels/slide9.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0.xml"/><Relationship Id="rId1" Type="http://schemas.openxmlformats.org/officeDocument/2006/relationships/slideLayout" Target="../slideLayouts/slideLayout11.xml"/><Relationship Id="rId4" Type="http://schemas.openxmlformats.org/officeDocument/2006/relationships/hyperlink" Target="https://github.com/JaydeepAgale/Volatility-Detection-in-Intraday-Market" TargetMode="Externa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a:blip r:embed="rId3"/>
          <a:tile tx="0" ty="0" sx="100000" sy="100000" flip="none" algn="tl"/>
        </a:blipFill>
        <a:effectLst/>
      </p:bgPr>
    </p:bg>
    <p:spTree>
      <p:nvGrpSpPr>
        <p:cNvPr id="1" name=""/>
        <p:cNvGrpSpPr/>
        <p:nvPr/>
      </p:nvGrpSpPr>
      <p:grpSpPr>
        <a:xfrm>
          <a:off x="0" y="0"/>
          <a:ext cx="0" cy="0"/>
          <a:chOff x="0" y="0"/>
          <a:chExt cx="0" cy="0"/>
        </a:xfrm>
      </p:grpSpPr>
      <p:sp>
        <p:nvSpPr>
          <p:cNvPr id="3" name="Text 0"/>
          <p:cNvSpPr/>
          <p:nvPr/>
        </p:nvSpPr>
        <p:spPr>
          <a:xfrm>
            <a:off x="6870499" y="1445214"/>
            <a:ext cx="7556421" cy="1240155"/>
          </a:xfrm>
          <a:prstGeom prst="rect">
            <a:avLst/>
          </a:prstGeom>
          <a:noFill/>
          <a:ln/>
        </p:spPr>
        <p:txBody>
          <a:bodyPr wrap="square" lIns="0" tIns="0" rIns="0" bIns="0" rtlCol="0" anchor="t"/>
          <a:lstStyle/>
          <a:p>
            <a:pPr marL="0" indent="0" algn="l">
              <a:lnSpc>
                <a:spcPts val="4850"/>
              </a:lnSpc>
              <a:buNone/>
            </a:pPr>
            <a:r>
              <a:rPr lang="en-US" sz="5400" b="1" dirty="0">
                <a:solidFill>
                  <a:srgbClr val="124E73"/>
                </a:solidFill>
                <a:latin typeface="MuseoModerno Medium" pitchFamily="34" charset="0"/>
                <a:ea typeface="MuseoModerno Medium" pitchFamily="34" charset="-122"/>
                <a:cs typeface="MuseoModerno Medium" pitchFamily="34" charset="-120"/>
              </a:rPr>
              <a:t>Volatility Detection in Intraday Market</a:t>
            </a:r>
            <a:endParaRPr lang="en-US" sz="5400" b="1" dirty="0"/>
          </a:p>
        </p:txBody>
      </p:sp>
      <p:sp>
        <p:nvSpPr>
          <p:cNvPr id="4" name="Text 1"/>
          <p:cNvSpPr/>
          <p:nvPr/>
        </p:nvSpPr>
        <p:spPr>
          <a:xfrm>
            <a:off x="6870499" y="3188999"/>
            <a:ext cx="7556421" cy="396954"/>
          </a:xfrm>
          <a:prstGeom prst="rect">
            <a:avLst/>
          </a:prstGeom>
          <a:noFill/>
          <a:ln/>
        </p:spPr>
        <p:txBody>
          <a:bodyPr wrap="none" lIns="0" tIns="0" rIns="0" bIns="0" rtlCol="0" anchor="t"/>
          <a:lstStyle/>
          <a:p>
            <a:pPr marL="0" indent="0" algn="l">
              <a:lnSpc>
                <a:spcPts val="3100"/>
              </a:lnSpc>
              <a:buNone/>
            </a:pPr>
            <a:r>
              <a:rPr lang="en-US" sz="2400" u="sng" dirty="0">
                <a:solidFill>
                  <a:srgbClr val="325F7B"/>
                </a:solidFill>
                <a:latin typeface="Source Sans 3" pitchFamily="34" charset="0"/>
                <a:ea typeface="Source Sans 3" pitchFamily="34" charset="-122"/>
                <a:cs typeface="Source Sans 3" pitchFamily="34" charset="-120"/>
                <a:hlinkClick r:id="rId4">
                  <a:extLst>
                    <a:ext uri="{A12FA001-AC4F-418D-AE19-62706E023703}">
                      <ahyp:hlinkClr xmlns:ahyp="http://schemas.microsoft.com/office/drawing/2018/hyperlinkcolor" val="tx"/>
                    </a:ext>
                  </a:extLst>
                </a:hlinkClick>
              </a:rPr>
              <a:t>B.Tech</a:t>
            </a:r>
            <a:r>
              <a:rPr lang="en-US" sz="2400" dirty="0">
                <a:solidFill>
                  <a:srgbClr val="2B4150"/>
                </a:solidFill>
                <a:latin typeface="Source Sans 3" pitchFamily="34" charset="0"/>
                <a:ea typeface="Source Sans 3" pitchFamily="34" charset="-122"/>
                <a:cs typeface="Source Sans 3" pitchFamily="34" charset="-120"/>
              </a:rPr>
              <a:t> Micro Project Report | CSE (AI &amp; DS) | 2025–26 </a:t>
            </a:r>
            <a:endParaRPr lang="en-US" sz="2400" dirty="0"/>
          </a:p>
        </p:txBody>
      </p:sp>
      <p:sp>
        <p:nvSpPr>
          <p:cNvPr id="5" name="Text 2"/>
          <p:cNvSpPr/>
          <p:nvPr/>
        </p:nvSpPr>
        <p:spPr>
          <a:xfrm>
            <a:off x="6974671" y="3794641"/>
            <a:ext cx="7556421" cy="396954"/>
          </a:xfrm>
          <a:prstGeom prst="rect">
            <a:avLst/>
          </a:prstGeom>
          <a:noFill/>
          <a:ln/>
        </p:spPr>
        <p:txBody>
          <a:bodyPr wrap="none" lIns="0" tIns="0" rIns="0" bIns="0" rtlCol="0" anchor="t"/>
          <a:lstStyle/>
          <a:p>
            <a:pPr marL="0" indent="0" algn="l">
              <a:lnSpc>
                <a:spcPts val="3100"/>
              </a:lnSpc>
              <a:buNone/>
            </a:pPr>
            <a:r>
              <a:rPr lang="en-US" sz="2400" dirty="0">
                <a:solidFill>
                  <a:srgbClr val="2B4150"/>
                </a:solidFill>
                <a:latin typeface="Source Sans 3" pitchFamily="34" charset="0"/>
                <a:ea typeface="Source Sans 3" pitchFamily="34" charset="-122"/>
                <a:cs typeface="Source Sans 3" pitchFamily="34" charset="-120"/>
              </a:rPr>
              <a:t>Submitted by ,</a:t>
            </a:r>
            <a:endParaRPr lang="en-US" sz="2400" dirty="0"/>
          </a:p>
        </p:txBody>
      </p:sp>
      <p:sp>
        <p:nvSpPr>
          <p:cNvPr id="6" name="Text 3"/>
          <p:cNvSpPr/>
          <p:nvPr/>
        </p:nvSpPr>
        <p:spPr>
          <a:xfrm>
            <a:off x="6870499" y="4420516"/>
            <a:ext cx="7556421" cy="396954"/>
          </a:xfrm>
          <a:prstGeom prst="rect">
            <a:avLst/>
          </a:prstGeom>
          <a:noFill/>
          <a:ln/>
        </p:spPr>
        <p:txBody>
          <a:bodyPr wrap="none" lIns="0" tIns="0" rIns="0" bIns="0" rtlCol="0" anchor="t"/>
          <a:lstStyle/>
          <a:p>
            <a:pPr marL="0" indent="0" algn="l">
              <a:lnSpc>
                <a:spcPts val="3100"/>
              </a:lnSpc>
              <a:buNone/>
            </a:pPr>
            <a:r>
              <a:rPr lang="en-US" sz="2400" b="1" dirty="0">
                <a:solidFill>
                  <a:srgbClr val="2B4150"/>
                </a:solidFill>
                <a:latin typeface="Source Sans 3" pitchFamily="34" charset="0"/>
                <a:ea typeface="Source Sans 3" pitchFamily="34" charset="-122"/>
                <a:cs typeface="Source Sans 3" pitchFamily="34" charset="-120"/>
              </a:rPr>
              <a:t>Himanshu Mukesh </a:t>
            </a:r>
            <a:r>
              <a:rPr lang="en-US" sz="2400" b="1" dirty="0" err="1">
                <a:solidFill>
                  <a:srgbClr val="2B4150"/>
                </a:solidFill>
                <a:latin typeface="Source Sans 3" pitchFamily="34" charset="0"/>
                <a:ea typeface="Source Sans 3" pitchFamily="34" charset="-122"/>
                <a:cs typeface="Source Sans 3" pitchFamily="34" charset="-120"/>
              </a:rPr>
              <a:t>Laddha</a:t>
            </a:r>
            <a:r>
              <a:rPr lang="en-US" sz="2400" b="1" dirty="0">
                <a:solidFill>
                  <a:srgbClr val="2B4150"/>
                </a:solidFill>
                <a:latin typeface="Source Sans 3" pitchFamily="34" charset="0"/>
                <a:ea typeface="Source Sans 3" pitchFamily="34" charset="-122"/>
                <a:cs typeface="Source Sans 3" pitchFamily="34" charset="-120"/>
              </a:rPr>
              <a:t> (SA 208),</a:t>
            </a:r>
            <a:endParaRPr lang="en-US" sz="2400" dirty="0"/>
          </a:p>
        </p:txBody>
      </p:sp>
      <p:sp>
        <p:nvSpPr>
          <p:cNvPr id="7" name="Text 4"/>
          <p:cNvSpPr/>
          <p:nvPr/>
        </p:nvSpPr>
        <p:spPr>
          <a:xfrm>
            <a:off x="6870498" y="4872567"/>
            <a:ext cx="7556421" cy="396954"/>
          </a:xfrm>
          <a:prstGeom prst="rect">
            <a:avLst/>
          </a:prstGeom>
          <a:noFill/>
          <a:ln/>
        </p:spPr>
        <p:txBody>
          <a:bodyPr wrap="none" lIns="0" tIns="0" rIns="0" bIns="0" rtlCol="0" anchor="t"/>
          <a:lstStyle/>
          <a:p>
            <a:pPr marL="0" indent="0" algn="l">
              <a:lnSpc>
                <a:spcPts val="3100"/>
              </a:lnSpc>
              <a:buNone/>
            </a:pPr>
            <a:r>
              <a:rPr lang="en-US" sz="2400" b="1" dirty="0">
                <a:solidFill>
                  <a:srgbClr val="2B4150"/>
                </a:solidFill>
                <a:latin typeface="Source Sans 3" pitchFamily="34" charset="0"/>
                <a:ea typeface="Source Sans 3" pitchFamily="34" charset="-122"/>
                <a:cs typeface="Source Sans 3" pitchFamily="34" charset="-120"/>
              </a:rPr>
              <a:t> Jaydeep Vijay Agale (SA210),</a:t>
            </a:r>
            <a:endParaRPr lang="en-US" sz="2400" dirty="0"/>
          </a:p>
        </p:txBody>
      </p:sp>
      <p:sp>
        <p:nvSpPr>
          <p:cNvPr id="8" name="Text 5"/>
          <p:cNvSpPr/>
          <p:nvPr/>
        </p:nvSpPr>
        <p:spPr>
          <a:xfrm>
            <a:off x="6870497" y="5468795"/>
            <a:ext cx="7556421" cy="396954"/>
          </a:xfrm>
          <a:prstGeom prst="rect">
            <a:avLst/>
          </a:prstGeom>
          <a:noFill/>
          <a:ln/>
        </p:spPr>
        <p:txBody>
          <a:bodyPr wrap="none" lIns="0" tIns="0" rIns="0" bIns="0" rtlCol="0" anchor="t"/>
          <a:lstStyle/>
          <a:p>
            <a:pPr marL="0" indent="0" algn="l">
              <a:lnSpc>
                <a:spcPts val="3100"/>
              </a:lnSpc>
              <a:buNone/>
            </a:pPr>
            <a:r>
              <a:rPr lang="en-US" sz="2400" b="1" dirty="0">
                <a:solidFill>
                  <a:srgbClr val="2B4150"/>
                </a:solidFill>
                <a:latin typeface="Source Sans 3" pitchFamily="34" charset="0"/>
                <a:ea typeface="Source Sans 3" pitchFamily="34" charset="-122"/>
                <a:cs typeface="Source Sans 3" pitchFamily="34" charset="-120"/>
              </a:rPr>
              <a:t> Sai Rajendra </a:t>
            </a:r>
            <a:r>
              <a:rPr lang="en-US" sz="2400" b="1" dirty="0" err="1">
                <a:solidFill>
                  <a:srgbClr val="2B4150"/>
                </a:solidFill>
                <a:latin typeface="Source Sans 3" pitchFamily="34" charset="0"/>
                <a:ea typeface="Source Sans 3" pitchFamily="34" charset="-122"/>
                <a:cs typeface="Source Sans 3" pitchFamily="34" charset="-120"/>
              </a:rPr>
              <a:t>Garudkar</a:t>
            </a:r>
            <a:r>
              <a:rPr lang="en-US" sz="2400" b="1" dirty="0">
                <a:solidFill>
                  <a:srgbClr val="2B4150"/>
                </a:solidFill>
                <a:latin typeface="Source Sans 3" pitchFamily="34" charset="0"/>
                <a:ea typeface="Source Sans 3" pitchFamily="34" charset="-122"/>
                <a:cs typeface="Source Sans 3" pitchFamily="34" charset="-120"/>
              </a:rPr>
              <a:t> (SA 228)</a:t>
            </a:r>
            <a:r>
              <a:rPr lang="en-US" sz="2400" dirty="0">
                <a:solidFill>
                  <a:srgbClr val="2B4150"/>
                </a:solidFill>
                <a:latin typeface="Source Sans 3" pitchFamily="34" charset="0"/>
                <a:ea typeface="Source Sans 3" pitchFamily="34" charset="-122"/>
                <a:cs typeface="Source Sans 3" pitchFamily="34" charset="-120"/>
              </a:rPr>
              <a:t> </a:t>
            </a:r>
            <a:endParaRPr lang="en-US" sz="2400" dirty="0"/>
          </a:p>
        </p:txBody>
      </p:sp>
      <p:sp>
        <p:nvSpPr>
          <p:cNvPr id="9" name="Text 6"/>
          <p:cNvSpPr/>
          <p:nvPr/>
        </p:nvSpPr>
        <p:spPr>
          <a:xfrm>
            <a:off x="6280190" y="6275427"/>
            <a:ext cx="7556421" cy="317540"/>
          </a:xfrm>
          <a:prstGeom prst="rect">
            <a:avLst/>
          </a:prstGeom>
          <a:noFill/>
          <a:ln/>
        </p:spPr>
        <p:txBody>
          <a:bodyPr wrap="none" lIns="0" tIns="0" rIns="0" bIns="0" rtlCol="0" anchor="t"/>
          <a:lstStyle/>
          <a:p>
            <a:pPr marL="0" indent="0" algn="l">
              <a:lnSpc>
                <a:spcPts val="2500"/>
              </a:lnSpc>
              <a:buNone/>
            </a:pPr>
            <a:endParaRPr lang="en-US" dirty="0"/>
          </a:p>
        </p:txBody>
      </p:sp>
      <p:sp>
        <p:nvSpPr>
          <p:cNvPr id="10" name="Rectangle 9">
            <a:extLst>
              <a:ext uri="{FF2B5EF4-FFF2-40B4-BE49-F238E27FC236}">
                <a16:creationId xmlns:a16="http://schemas.microsoft.com/office/drawing/2014/main" id="{C9AEFAB8-ABB8-42E7-A888-B9D74BE199B8}"/>
              </a:ext>
            </a:extLst>
          </p:cNvPr>
          <p:cNvSpPr/>
          <p:nvPr/>
        </p:nvSpPr>
        <p:spPr>
          <a:xfrm flipV="1">
            <a:off x="12662703" y="76392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400"/>
          </a:p>
        </p:txBody>
      </p:sp>
      <p:pic>
        <p:nvPicPr>
          <p:cNvPr id="12" name="Picture 11">
            <a:extLst>
              <a:ext uri="{FF2B5EF4-FFF2-40B4-BE49-F238E27FC236}">
                <a16:creationId xmlns:a16="http://schemas.microsoft.com/office/drawing/2014/main" id="{D2C6D3FF-2144-40AD-AA9E-2A4A8759464D}"/>
              </a:ext>
            </a:extLst>
          </p:cNvPr>
          <p:cNvPicPr>
            <a:picLocks noChangeAspect="1"/>
          </p:cNvPicPr>
          <p:nvPr/>
        </p:nvPicPr>
        <p:blipFill>
          <a:blip r:embed="rId5"/>
          <a:stretch>
            <a:fillRect/>
          </a:stretch>
        </p:blipFill>
        <p:spPr>
          <a:xfrm>
            <a:off x="0" y="-1"/>
            <a:ext cx="6667018" cy="8229601"/>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793790" y="1680924"/>
            <a:ext cx="1573768" cy="373142"/>
          </a:xfrm>
          <a:prstGeom prst="roundRect">
            <a:avLst>
              <a:gd name="adj" fmla="val 6383"/>
            </a:avLst>
          </a:prstGeom>
          <a:solidFill>
            <a:srgbClr val="DBE8F0"/>
          </a:solidFill>
          <a:ln/>
        </p:spPr>
      </p:sp>
      <p:sp>
        <p:nvSpPr>
          <p:cNvPr id="3" name="Text 1"/>
          <p:cNvSpPr/>
          <p:nvPr/>
        </p:nvSpPr>
        <p:spPr>
          <a:xfrm>
            <a:off x="912852" y="1740456"/>
            <a:ext cx="1335643" cy="254079"/>
          </a:xfrm>
          <a:prstGeom prst="rect">
            <a:avLst/>
          </a:prstGeom>
          <a:noFill/>
          <a:ln/>
        </p:spPr>
        <p:txBody>
          <a:bodyPr wrap="none" lIns="0" tIns="0" rIns="0" bIns="0" rtlCol="0" anchor="t"/>
          <a:lstStyle/>
          <a:p>
            <a:pPr marL="0" indent="0" algn="l">
              <a:lnSpc>
                <a:spcPts val="2000"/>
              </a:lnSpc>
              <a:buNone/>
            </a:pPr>
            <a:r>
              <a:rPr lang="en-US" sz="1250" dirty="0">
                <a:solidFill>
                  <a:srgbClr val="2B4150"/>
                </a:solidFill>
                <a:latin typeface="Source Sans 3" pitchFamily="34" charset="0"/>
                <a:ea typeface="Source Sans 3" pitchFamily="34" charset="-122"/>
                <a:cs typeface="Source Sans 3" pitchFamily="34" charset="-120"/>
              </a:rPr>
              <a:t>PROJECT OVERVIEW</a:t>
            </a:r>
            <a:endParaRPr lang="en-US" sz="1250" dirty="0"/>
          </a:p>
        </p:txBody>
      </p:sp>
      <p:sp>
        <p:nvSpPr>
          <p:cNvPr id="4" name="Text 2"/>
          <p:cNvSpPr/>
          <p:nvPr/>
        </p:nvSpPr>
        <p:spPr>
          <a:xfrm>
            <a:off x="793790" y="2133362"/>
            <a:ext cx="4961811" cy="620078"/>
          </a:xfrm>
          <a:prstGeom prst="rect">
            <a:avLst/>
          </a:prstGeom>
          <a:noFill/>
          <a:ln/>
        </p:spPr>
        <p:txBody>
          <a:bodyPr wrap="none" lIns="0" tIns="0" rIns="0" bIns="0" rtlCol="0" anchor="t"/>
          <a:lstStyle/>
          <a:p>
            <a:pPr marL="0" indent="0" algn="l">
              <a:lnSpc>
                <a:spcPts val="4850"/>
              </a:lnSpc>
              <a:buNone/>
            </a:pPr>
            <a:r>
              <a:rPr lang="en-US" sz="3900" b="1" dirty="0">
                <a:solidFill>
                  <a:srgbClr val="124E73"/>
                </a:solidFill>
                <a:latin typeface="MuseoModerno Medium" pitchFamily="34" charset="0"/>
                <a:ea typeface="MuseoModerno Medium" pitchFamily="34" charset="-122"/>
                <a:cs typeface="MuseoModerno Medium" pitchFamily="34" charset="-120"/>
              </a:rPr>
              <a:t>Abstract</a:t>
            </a:r>
            <a:endParaRPr lang="en-US" sz="3900" b="1" dirty="0"/>
          </a:p>
        </p:txBody>
      </p:sp>
      <p:sp>
        <p:nvSpPr>
          <p:cNvPr id="5" name="Shape 3"/>
          <p:cNvSpPr/>
          <p:nvPr/>
        </p:nvSpPr>
        <p:spPr>
          <a:xfrm>
            <a:off x="650915" y="3051095"/>
            <a:ext cx="6565106" cy="3708519"/>
          </a:xfrm>
          <a:prstGeom prst="roundRect">
            <a:avLst>
              <a:gd name="adj" fmla="val 851"/>
            </a:avLst>
          </a:prstGeom>
          <a:solidFill>
            <a:srgbClr val="063E5F"/>
          </a:solidFill>
          <a:ln/>
        </p:spPr>
      </p:sp>
      <p:sp>
        <p:nvSpPr>
          <p:cNvPr id="6" name="Text 4"/>
          <p:cNvSpPr/>
          <p:nvPr/>
        </p:nvSpPr>
        <p:spPr>
          <a:xfrm>
            <a:off x="849273" y="3249454"/>
            <a:ext cx="2756892" cy="310158"/>
          </a:xfrm>
          <a:prstGeom prst="rect">
            <a:avLst/>
          </a:prstGeom>
          <a:noFill/>
          <a:ln/>
        </p:spPr>
        <p:txBody>
          <a:bodyPr wrap="none" lIns="0" tIns="0" rIns="0" bIns="0" rtlCol="0" anchor="t"/>
          <a:lstStyle/>
          <a:p>
            <a:pPr marL="0" indent="0" algn="just">
              <a:lnSpc>
                <a:spcPts val="2400"/>
              </a:lnSpc>
              <a:buNone/>
            </a:pPr>
            <a:r>
              <a:rPr lang="en-US" sz="2000" b="1" dirty="0">
                <a:solidFill>
                  <a:srgbClr val="FFFFFF"/>
                </a:solidFill>
                <a:latin typeface="MuseoModerno Medium" pitchFamily="34" charset="0"/>
                <a:ea typeface="MuseoModerno Medium" pitchFamily="34" charset="-122"/>
                <a:cs typeface="MuseoModerno Medium" pitchFamily="34" charset="-120"/>
              </a:rPr>
              <a:t>What This Project Does</a:t>
            </a:r>
            <a:endParaRPr lang="en-US" sz="2000" b="1" dirty="0"/>
          </a:p>
        </p:txBody>
      </p:sp>
      <p:sp>
        <p:nvSpPr>
          <p:cNvPr id="7" name="Text 5"/>
          <p:cNvSpPr/>
          <p:nvPr/>
        </p:nvSpPr>
        <p:spPr>
          <a:xfrm>
            <a:off x="849273" y="3757970"/>
            <a:ext cx="6168390" cy="1905238"/>
          </a:xfrm>
          <a:prstGeom prst="rect">
            <a:avLst/>
          </a:prstGeom>
          <a:noFill/>
          <a:ln/>
        </p:spPr>
        <p:txBody>
          <a:bodyPr wrap="square" lIns="0" tIns="0" rIns="0" bIns="0" rtlCol="0" anchor="t"/>
          <a:lstStyle/>
          <a:p>
            <a:pPr marL="0" indent="0" algn="just">
              <a:lnSpc>
                <a:spcPts val="2500"/>
              </a:lnSpc>
              <a:buNone/>
            </a:pPr>
            <a:r>
              <a:rPr lang="en-US" sz="2400" dirty="0">
                <a:solidFill>
                  <a:srgbClr val="FFFFFF"/>
                </a:solidFill>
                <a:latin typeface="Source Sans 3" pitchFamily="34" charset="0"/>
                <a:ea typeface="Source Sans 3" pitchFamily="34" charset="-122"/>
                <a:cs typeface="Source Sans 3" pitchFamily="34" charset="-120"/>
              </a:rPr>
              <a:t>This project analyzes high-frequency intraday market data to identify moments when the market becomes unusually active or unstable. By calculating volatility indicators, it distinguishes between calm periods (slow price movement) and high-volatility phases (sharp price changes), reflecting real-world characteristics like volatility clustering and predictable opening/closing hour patterns.</a:t>
            </a:r>
            <a:endParaRPr lang="en-US" sz="2400" dirty="0"/>
          </a:p>
        </p:txBody>
      </p:sp>
      <p:sp>
        <p:nvSpPr>
          <p:cNvPr id="8" name="Text 6"/>
          <p:cNvSpPr/>
          <p:nvPr/>
        </p:nvSpPr>
        <p:spPr>
          <a:xfrm>
            <a:off x="7501771" y="2486044"/>
            <a:ext cx="2480905" cy="310158"/>
          </a:xfrm>
          <a:prstGeom prst="rect">
            <a:avLst/>
          </a:prstGeom>
          <a:noFill/>
          <a:ln/>
        </p:spPr>
        <p:txBody>
          <a:bodyPr wrap="none" lIns="0" tIns="0" rIns="0" bIns="0" rtlCol="0" anchor="t"/>
          <a:lstStyle/>
          <a:p>
            <a:pPr marL="0" indent="0" algn="l">
              <a:lnSpc>
                <a:spcPts val="2400"/>
              </a:lnSpc>
              <a:buNone/>
            </a:pPr>
            <a:r>
              <a:rPr lang="en-US" sz="2800" b="1" dirty="0">
                <a:solidFill>
                  <a:srgbClr val="124E73"/>
                </a:solidFill>
                <a:latin typeface="MuseoModerno Medium" pitchFamily="34" charset="0"/>
                <a:ea typeface="MuseoModerno Medium" pitchFamily="34" charset="-122"/>
                <a:cs typeface="MuseoModerno Medium" pitchFamily="34" charset="-120"/>
              </a:rPr>
              <a:t>Why It Matters</a:t>
            </a:r>
            <a:endParaRPr lang="en-US" sz="2800" b="1" dirty="0"/>
          </a:p>
        </p:txBody>
      </p:sp>
      <p:sp>
        <p:nvSpPr>
          <p:cNvPr id="9" name="Text 7"/>
          <p:cNvSpPr/>
          <p:nvPr/>
        </p:nvSpPr>
        <p:spPr>
          <a:xfrm>
            <a:off x="7501771" y="3095828"/>
            <a:ext cx="6279356" cy="1270159"/>
          </a:xfrm>
          <a:prstGeom prst="rect">
            <a:avLst/>
          </a:prstGeom>
          <a:noFill/>
          <a:ln/>
        </p:spPr>
        <p:txBody>
          <a:bodyPr wrap="square" lIns="0" tIns="0" rIns="0" bIns="0" rtlCol="0" anchor="t"/>
          <a:lstStyle/>
          <a:p>
            <a:pPr marL="0" indent="0" algn="l">
              <a:lnSpc>
                <a:spcPts val="2500"/>
              </a:lnSpc>
              <a:buNone/>
            </a:pPr>
            <a:r>
              <a:rPr lang="en-US" sz="2400" dirty="0">
                <a:solidFill>
                  <a:srgbClr val="2B4150"/>
                </a:solidFill>
                <a:latin typeface="Source Sans 3" pitchFamily="34" charset="0"/>
                <a:ea typeface="Source Sans 3" pitchFamily="34" charset="-122"/>
                <a:cs typeface="Source Sans 3" pitchFamily="34" charset="-120"/>
              </a:rPr>
              <a:t>These insights help traders and analysts adjust strategies, manage risk, and gain a clearer picture of market behavior. The project demonstrates how simple analytical methods can transform raw intraday data into meaningful, actionable insights for more informed trading decisions.</a:t>
            </a:r>
            <a:endParaRPr lang="en-US" sz="2400" dirty="0"/>
          </a:p>
        </p:txBody>
      </p:sp>
      <p:sp>
        <p:nvSpPr>
          <p:cNvPr id="10" name="Text 8"/>
          <p:cNvSpPr/>
          <p:nvPr/>
        </p:nvSpPr>
        <p:spPr>
          <a:xfrm>
            <a:off x="7564874" y="5293396"/>
            <a:ext cx="2480905" cy="310158"/>
          </a:xfrm>
          <a:prstGeom prst="rect">
            <a:avLst/>
          </a:prstGeom>
          <a:noFill/>
          <a:ln/>
        </p:spPr>
        <p:txBody>
          <a:bodyPr wrap="none" lIns="0" tIns="0" rIns="0" bIns="0" rtlCol="0" anchor="t"/>
          <a:lstStyle/>
          <a:p>
            <a:pPr marL="0" indent="0" algn="l">
              <a:lnSpc>
                <a:spcPts val="2400"/>
              </a:lnSpc>
              <a:buNone/>
            </a:pPr>
            <a:r>
              <a:rPr lang="en-US" sz="2800" b="1" dirty="0">
                <a:solidFill>
                  <a:srgbClr val="124E73"/>
                </a:solidFill>
                <a:latin typeface="MuseoModerno Medium" pitchFamily="34" charset="0"/>
                <a:ea typeface="MuseoModerno Medium" pitchFamily="34" charset="-122"/>
                <a:cs typeface="MuseoModerno Medium" pitchFamily="34" charset="-120"/>
              </a:rPr>
              <a:t>Keywords</a:t>
            </a:r>
            <a:endParaRPr lang="en-US" sz="2400" b="1" dirty="0"/>
          </a:p>
        </p:txBody>
      </p:sp>
      <p:sp>
        <p:nvSpPr>
          <p:cNvPr id="11" name="Text 9"/>
          <p:cNvSpPr/>
          <p:nvPr/>
        </p:nvSpPr>
        <p:spPr>
          <a:xfrm>
            <a:off x="7564874" y="5882879"/>
            <a:ext cx="6279356" cy="635079"/>
          </a:xfrm>
          <a:prstGeom prst="rect">
            <a:avLst/>
          </a:prstGeom>
          <a:noFill/>
          <a:ln/>
        </p:spPr>
        <p:txBody>
          <a:bodyPr wrap="square" lIns="0" tIns="0" rIns="0" bIns="0" rtlCol="0" anchor="t"/>
          <a:lstStyle/>
          <a:p>
            <a:pPr marL="0" indent="0" algn="l">
              <a:lnSpc>
                <a:spcPts val="2500"/>
              </a:lnSpc>
              <a:buNone/>
            </a:pPr>
            <a:r>
              <a:rPr lang="en-US" sz="2400" dirty="0">
                <a:solidFill>
                  <a:srgbClr val="2B4150"/>
                </a:solidFill>
                <a:latin typeface="Source Sans 3" pitchFamily="34" charset="0"/>
                <a:ea typeface="Source Sans 3" pitchFamily="34" charset="-122"/>
                <a:cs typeface="Source Sans 3" pitchFamily="34" charset="-120"/>
              </a:rPr>
              <a:t>Intraday Trading, Market Volatility, Volatility Clustering, High-Frequency Data, Algorithmic Trading, Risk Management, Quantitative Analysis</a:t>
            </a:r>
            <a:endParaRPr lang="en-US" sz="2400" dirty="0"/>
          </a:p>
        </p:txBody>
      </p:sp>
      <p:sp>
        <p:nvSpPr>
          <p:cNvPr id="12" name="Rectangle 11">
            <a:extLst>
              <a:ext uri="{FF2B5EF4-FFF2-40B4-BE49-F238E27FC236}">
                <a16:creationId xmlns:a16="http://schemas.microsoft.com/office/drawing/2014/main" id="{652D8024-DE2F-4791-B5A0-34817268DF2A}"/>
              </a:ext>
            </a:extLst>
          </p:cNvPr>
          <p:cNvSpPr/>
          <p:nvPr/>
        </p:nvSpPr>
        <p:spPr>
          <a:xfrm flipV="1">
            <a:off x="12662703" y="76392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Shape 0"/>
          <p:cNvSpPr/>
          <p:nvPr/>
        </p:nvSpPr>
        <p:spPr>
          <a:xfrm>
            <a:off x="6348770" y="423710"/>
            <a:ext cx="989409" cy="388382"/>
          </a:xfrm>
          <a:prstGeom prst="roundRect">
            <a:avLst>
              <a:gd name="adj" fmla="val 6132"/>
            </a:avLst>
          </a:prstGeom>
          <a:noFill/>
          <a:ln w="7620">
            <a:solidFill>
              <a:srgbClr val="325F7B"/>
            </a:solidFill>
            <a:prstDash val="solid"/>
          </a:ln>
        </p:spPr>
      </p:sp>
      <p:sp>
        <p:nvSpPr>
          <p:cNvPr id="4" name="Text 1"/>
          <p:cNvSpPr/>
          <p:nvPr/>
        </p:nvSpPr>
        <p:spPr>
          <a:xfrm>
            <a:off x="6450799" y="489818"/>
            <a:ext cx="736044" cy="254079"/>
          </a:xfrm>
          <a:prstGeom prst="rect">
            <a:avLst/>
          </a:prstGeom>
          <a:noFill/>
          <a:ln/>
        </p:spPr>
        <p:txBody>
          <a:bodyPr wrap="none" lIns="0" tIns="0" rIns="0" bIns="0" rtlCol="0" anchor="t"/>
          <a:lstStyle/>
          <a:p>
            <a:pPr marL="0" indent="0" algn="l">
              <a:lnSpc>
                <a:spcPts val="2000"/>
              </a:lnSpc>
              <a:buNone/>
            </a:pPr>
            <a:r>
              <a:rPr lang="en-US" sz="1400" dirty="0">
                <a:solidFill>
                  <a:srgbClr val="325F7B"/>
                </a:solidFill>
                <a:latin typeface="Source Sans 3" pitchFamily="34" charset="0"/>
                <a:ea typeface="Source Sans 3" pitchFamily="34" charset="-122"/>
                <a:cs typeface="Source Sans 3" pitchFamily="34" charset="-120"/>
              </a:rPr>
              <a:t>CHAPTER 1</a:t>
            </a:r>
            <a:endParaRPr lang="en-US" sz="1400" dirty="0"/>
          </a:p>
        </p:txBody>
      </p:sp>
      <p:sp>
        <p:nvSpPr>
          <p:cNvPr id="5" name="Text 2"/>
          <p:cNvSpPr/>
          <p:nvPr/>
        </p:nvSpPr>
        <p:spPr>
          <a:xfrm>
            <a:off x="6306784" y="1029936"/>
            <a:ext cx="4961811" cy="620078"/>
          </a:xfrm>
          <a:prstGeom prst="rect">
            <a:avLst/>
          </a:prstGeom>
          <a:noFill/>
          <a:ln/>
        </p:spPr>
        <p:txBody>
          <a:bodyPr wrap="none" lIns="0" tIns="0" rIns="0" bIns="0" rtlCol="0" anchor="t"/>
          <a:lstStyle/>
          <a:p>
            <a:pPr marL="0" indent="0" algn="l">
              <a:lnSpc>
                <a:spcPts val="4850"/>
              </a:lnSpc>
              <a:buNone/>
            </a:pPr>
            <a:r>
              <a:rPr lang="en-US" sz="4400" b="1" dirty="0">
                <a:solidFill>
                  <a:srgbClr val="124E73"/>
                </a:solidFill>
                <a:latin typeface="MuseoModerno Medium" pitchFamily="34" charset="0"/>
                <a:ea typeface="MuseoModerno Medium" pitchFamily="34" charset="-122"/>
                <a:cs typeface="MuseoModerno Medium" pitchFamily="34" charset="-120"/>
              </a:rPr>
              <a:t>Introduction</a:t>
            </a:r>
            <a:endParaRPr lang="en-US" sz="4000" b="1" dirty="0"/>
          </a:p>
        </p:txBody>
      </p:sp>
      <p:sp>
        <p:nvSpPr>
          <p:cNvPr id="6" name="Shape 3"/>
          <p:cNvSpPr/>
          <p:nvPr/>
        </p:nvSpPr>
        <p:spPr>
          <a:xfrm>
            <a:off x="6257330" y="1669988"/>
            <a:ext cx="7579281" cy="3052323"/>
          </a:xfrm>
          <a:prstGeom prst="roundRect">
            <a:avLst>
              <a:gd name="adj" fmla="val 4462"/>
            </a:avLst>
          </a:prstGeom>
          <a:solidFill>
            <a:srgbClr val="FFFCF5"/>
          </a:solidFill>
          <a:ln w="22860">
            <a:solidFill>
              <a:srgbClr val="D9D4C9"/>
            </a:solidFill>
            <a:prstDash val="solid"/>
          </a:ln>
        </p:spPr>
      </p:sp>
      <p:sp>
        <p:nvSpPr>
          <p:cNvPr id="7" name="Shape 4"/>
          <p:cNvSpPr/>
          <p:nvPr/>
        </p:nvSpPr>
        <p:spPr>
          <a:xfrm>
            <a:off x="6257330" y="1669988"/>
            <a:ext cx="132026" cy="3052323"/>
          </a:xfrm>
          <a:prstGeom prst="roundRect">
            <a:avLst>
              <a:gd name="adj" fmla="val 32558"/>
            </a:avLst>
          </a:prstGeom>
          <a:solidFill>
            <a:srgbClr val="325F7B"/>
          </a:solidFill>
          <a:ln/>
        </p:spPr>
      </p:sp>
      <p:sp>
        <p:nvSpPr>
          <p:cNvPr id="8" name="Text 5"/>
          <p:cNvSpPr/>
          <p:nvPr/>
        </p:nvSpPr>
        <p:spPr>
          <a:xfrm>
            <a:off x="6566890" y="1914788"/>
            <a:ext cx="2480905" cy="310158"/>
          </a:xfrm>
          <a:prstGeom prst="rect">
            <a:avLst/>
          </a:prstGeom>
          <a:noFill/>
          <a:ln/>
        </p:spPr>
        <p:txBody>
          <a:bodyPr wrap="none" lIns="0" tIns="0" rIns="0" bIns="0" rtlCol="0" anchor="t"/>
          <a:lstStyle/>
          <a:p>
            <a:pPr marL="0" indent="0" algn="l">
              <a:lnSpc>
                <a:spcPts val="2400"/>
              </a:lnSpc>
              <a:buNone/>
            </a:pPr>
            <a:r>
              <a:rPr lang="en-US" sz="3200" b="1" dirty="0">
                <a:solidFill>
                  <a:srgbClr val="2B4150"/>
                </a:solidFill>
                <a:latin typeface="MuseoModerno Medium" pitchFamily="34" charset="0"/>
                <a:ea typeface="MuseoModerno Medium" pitchFamily="34" charset="-122"/>
                <a:cs typeface="MuseoModerno Medium" pitchFamily="34" charset="-120"/>
              </a:rPr>
              <a:t>Overview</a:t>
            </a:r>
            <a:endParaRPr lang="en-US" sz="3200" b="1" dirty="0"/>
          </a:p>
        </p:txBody>
      </p:sp>
      <p:sp>
        <p:nvSpPr>
          <p:cNvPr id="9" name="Text 6"/>
          <p:cNvSpPr/>
          <p:nvPr/>
        </p:nvSpPr>
        <p:spPr>
          <a:xfrm>
            <a:off x="6613673" y="2338044"/>
            <a:ext cx="7045404" cy="1587698"/>
          </a:xfrm>
          <a:prstGeom prst="rect">
            <a:avLst/>
          </a:prstGeom>
          <a:noFill/>
          <a:ln/>
        </p:spPr>
        <p:txBody>
          <a:bodyPr wrap="square" lIns="0" tIns="0" rIns="0" bIns="0" rtlCol="0" anchor="t"/>
          <a:lstStyle/>
          <a:p>
            <a:pPr marL="0" indent="0" algn="just">
              <a:lnSpc>
                <a:spcPts val="2500"/>
              </a:lnSpc>
              <a:buNone/>
            </a:pPr>
            <a:r>
              <a:rPr lang="en-US" sz="2400" dirty="0">
                <a:solidFill>
                  <a:srgbClr val="2B4150"/>
                </a:solidFill>
                <a:latin typeface="Source Sans 3" pitchFamily="34" charset="0"/>
                <a:ea typeface="Source Sans 3" pitchFamily="34" charset="-122"/>
                <a:cs typeface="Source Sans 3" pitchFamily="34" charset="-120"/>
              </a:rPr>
              <a:t>Financial markets are highly dynamic, with prices constantly shifting due to sentiment, economic news, and trading activity. Intraday trading—buying and selling within the same trading day—is particularly sensitive to rapid price fluctuations known as </a:t>
            </a:r>
            <a:r>
              <a:rPr lang="en-US" sz="2400" b="1" dirty="0">
                <a:solidFill>
                  <a:srgbClr val="2B4150"/>
                </a:solidFill>
                <a:latin typeface="Source Sans 3" pitchFamily="34" charset="0"/>
                <a:ea typeface="Source Sans 3" pitchFamily="34" charset="-122"/>
                <a:cs typeface="Source Sans 3" pitchFamily="34" charset="-120"/>
              </a:rPr>
              <a:t>volatility</a:t>
            </a:r>
            <a:r>
              <a:rPr lang="en-US" sz="2400" dirty="0">
                <a:solidFill>
                  <a:srgbClr val="2B4150"/>
                </a:solidFill>
                <a:latin typeface="Source Sans 3" pitchFamily="34" charset="0"/>
                <a:ea typeface="Source Sans 3" pitchFamily="34" charset="-122"/>
                <a:cs typeface="Source Sans 3" pitchFamily="34" charset="-120"/>
              </a:rPr>
              <a:t>, which plays a crucial role in determining trading opportunities and risks.</a:t>
            </a:r>
            <a:endParaRPr lang="en-US" sz="2400" dirty="0"/>
          </a:p>
        </p:txBody>
      </p:sp>
      <p:sp>
        <p:nvSpPr>
          <p:cNvPr id="10" name="Shape 7"/>
          <p:cNvSpPr/>
          <p:nvPr/>
        </p:nvSpPr>
        <p:spPr>
          <a:xfrm>
            <a:off x="6257330" y="5065394"/>
            <a:ext cx="7681998" cy="2797683"/>
          </a:xfrm>
          <a:prstGeom prst="roundRect">
            <a:avLst>
              <a:gd name="adj" fmla="val 5123"/>
            </a:avLst>
          </a:prstGeom>
          <a:solidFill>
            <a:srgbClr val="FFFCF5"/>
          </a:solidFill>
          <a:ln w="22860">
            <a:solidFill>
              <a:srgbClr val="D9D4C9"/>
            </a:solidFill>
            <a:prstDash val="solid"/>
          </a:ln>
        </p:spPr>
      </p:sp>
      <p:sp>
        <p:nvSpPr>
          <p:cNvPr id="11" name="Shape 8"/>
          <p:cNvSpPr/>
          <p:nvPr/>
        </p:nvSpPr>
        <p:spPr>
          <a:xfrm>
            <a:off x="6257330" y="5065395"/>
            <a:ext cx="149542" cy="2788424"/>
          </a:xfrm>
          <a:prstGeom prst="roundRect">
            <a:avLst>
              <a:gd name="adj" fmla="val 32558"/>
            </a:avLst>
          </a:prstGeom>
          <a:solidFill>
            <a:srgbClr val="325F7B"/>
          </a:solidFill>
          <a:ln/>
        </p:spPr>
      </p:sp>
      <p:sp>
        <p:nvSpPr>
          <p:cNvPr id="12" name="Text 9"/>
          <p:cNvSpPr/>
          <p:nvPr/>
        </p:nvSpPr>
        <p:spPr>
          <a:xfrm>
            <a:off x="6569988" y="5212690"/>
            <a:ext cx="2480905" cy="310158"/>
          </a:xfrm>
          <a:prstGeom prst="rect">
            <a:avLst/>
          </a:prstGeom>
          <a:noFill/>
          <a:ln/>
        </p:spPr>
        <p:txBody>
          <a:bodyPr wrap="none" lIns="0" tIns="0" rIns="0" bIns="0" rtlCol="0" anchor="t"/>
          <a:lstStyle/>
          <a:p>
            <a:pPr marL="0" indent="0" algn="l">
              <a:lnSpc>
                <a:spcPts val="2400"/>
              </a:lnSpc>
              <a:buNone/>
            </a:pPr>
            <a:r>
              <a:rPr lang="en-US" sz="3200" b="1" dirty="0">
                <a:solidFill>
                  <a:srgbClr val="2B4150"/>
                </a:solidFill>
                <a:latin typeface="MuseoModerno Medium" pitchFamily="34" charset="0"/>
                <a:ea typeface="MuseoModerno Medium" pitchFamily="34" charset="-122"/>
                <a:cs typeface="MuseoModerno Medium" pitchFamily="34" charset="-120"/>
              </a:rPr>
              <a:t>Motivation</a:t>
            </a:r>
            <a:endParaRPr lang="en-US" sz="3200" b="1" dirty="0"/>
          </a:p>
        </p:txBody>
      </p:sp>
      <p:sp>
        <p:nvSpPr>
          <p:cNvPr id="13" name="Text 10"/>
          <p:cNvSpPr/>
          <p:nvPr/>
        </p:nvSpPr>
        <p:spPr>
          <a:xfrm>
            <a:off x="6569988" y="5634653"/>
            <a:ext cx="7045404" cy="1270159"/>
          </a:xfrm>
          <a:prstGeom prst="rect">
            <a:avLst/>
          </a:prstGeom>
          <a:noFill/>
          <a:ln/>
        </p:spPr>
        <p:txBody>
          <a:bodyPr wrap="square" lIns="0" tIns="0" rIns="0" bIns="0" rtlCol="0" anchor="t"/>
          <a:lstStyle/>
          <a:p>
            <a:pPr marL="0" indent="0" algn="l">
              <a:lnSpc>
                <a:spcPts val="2500"/>
              </a:lnSpc>
              <a:buNone/>
            </a:pPr>
            <a:r>
              <a:rPr lang="en-US" sz="2400" dirty="0">
                <a:solidFill>
                  <a:srgbClr val="2B4150"/>
                </a:solidFill>
                <a:latin typeface="Source Sans 3" pitchFamily="34" charset="0"/>
                <a:ea typeface="Source Sans 3" pitchFamily="34" charset="-122"/>
                <a:cs typeface="Source Sans 3" pitchFamily="34" charset="-120"/>
              </a:rPr>
              <a:t>Traders struggle to interpret rapid market movements and identify the right time to enter or exit trades. With the growth of algorithmic trading and quantitative finance, there is a growing need for tools that process large volumes of market data and generate meaningful insights—this project aims to bridge that gap.</a:t>
            </a:r>
            <a:endParaRPr lang="en-US" sz="2400" dirty="0"/>
          </a:p>
        </p:txBody>
      </p:sp>
      <p:sp>
        <p:nvSpPr>
          <p:cNvPr id="14" name="Rectangle 13">
            <a:extLst>
              <a:ext uri="{FF2B5EF4-FFF2-40B4-BE49-F238E27FC236}">
                <a16:creationId xmlns:a16="http://schemas.microsoft.com/office/drawing/2014/main" id="{D47118B8-9F64-44E8-A4C2-93F04DAB17C1}"/>
              </a:ext>
            </a:extLst>
          </p:cNvPr>
          <p:cNvSpPr/>
          <p:nvPr/>
        </p:nvSpPr>
        <p:spPr>
          <a:xfrm flipV="1">
            <a:off x="12662703" y="76392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430534" y="392632"/>
            <a:ext cx="2951493" cy="417066"/>
          </a:xfrm>
          <a:prstGeom prst="roundRect">
            <a:avLst>
              <a:gd name="adj" fmla="val 6383"/>
            </a:avLst>
          </a:prstGeom>
          <a:solidFill>
            <a:srgbClr val="DBE8F0"/>
          </a:solidFill>
          <a:ln/>
        </p:spPr>
      </p:sp>
      <p:sp>
        <p:nvSpPr>
          <p:cNvPr id="3" name="Text 1"/>
          <p:cNvSpPr/>
          <p:nvPr/>
        </p:nvSpPr>
        <p:spPr>
          <a:xfrm>
            <a:off x="537071" y="507078"/>
            <a:ext cx="2235462" cy="254079"/>
          </a:xfrm>
          <a:prstGeom prst="rect">
            <a:avLst/>
          </a:prstGeom>
          <a:noFill/>
          <a:ln/>
        </p:spPr>
        <p:txBody>
          <a:bodyPr wrap="none" lIns="0" tIns="0" rIns="0" bIns="0" rtlCol="0" anchor="t"/>
          <a:lstStyle/>
          <a:p>
            <a:pPr marL="0" indent="0" algn="l">
              <a:lnSpc>
                <a:spcPts val="2000"/>
              </a:lnSpc>
              <a:buNone/>
            </a:pPr>
            <a:r>
              <a:rPr lang="en-US" sz="2000" b="1" dirty="0">
                <a:solidFill>
                  <a:srgbClr val="2B4150"/>
                </a:solidFill>
                <a:latin typeface="Source Sans 3" pitchFamily="34" charset="0"/>
                <a:ea typeface="Source Sans 3" pitchFamily="34" charset="-122"/>
                <a:cs typeface="Source Sans 3" pitchFamily="34" charset="-120"/>
              </a:rPr>
              <a:t>CHAPTER 1 — CONTINUED</a:t>
            </a:r>
            <a:endParaRPr lang="en-US" sz="2000" b="1" dirty="0"/>
          </a:p>
        </p:txBody>
      </p:sp>
      <p:sp>
        <p:nvSpPr>
          <p:cNvPr id="4" name="Text 2"/>
          <p:cNvSpPr/>
          <p:nvPr/>
        </p:nvSpPr>
        <p:spPr>
          <a:xfrm>
            <a:off x="487262" y="1292542"/>
            <a:ext cx="9214247" cy="620078"/>
          </a:xfrm>
          <a:prstGeom prst="rect">
            <a:avLst/>
          </a:prstGeom>
          <a:noFill/>
          <a:ln/>
        </p:spPr>
        <p:txBody>
          <a:bodyPr wrap="none" lIns="0" tIns="0" rIns="0" bIns="0" rtlCol="0" anchor="t"/>
          <a:lstStyle/>
          <a:p>
            <a:pPr marL="0" indent="0" algn="l">
              <a:lnSpc>
                <a:spcPts val="4850"/>
              </a:lnSpc>
              <a:buNone/>
            </a:pPr>
            <a:r>
              <a:rPr lang="en-US" sz="5400" b="1" dirty="0">
                <a:solidFill>
                  <a:srgbClr val="124E73"/>
                </a:solidFill>
                <a:latin typeface="MuseoModerno Medium" pitchFamily="34" charset="0"/>
                <a:ea typeface="MuseoModerno Medium" pitchFamily="34" charset="-122"/>
                <a:cs typeface="MuseoModerno Medium" pitchFamily="34" charset="-120"/>
              </a:rPr>
              <a:t>Problem Definition, Objectives &amp; Scope</a:t>
            </a:r>
            <a:endParaRPr lang="en-US" sz="5400" b="1" dirty="0"/>
          </a:p>
        </p:txBody>
      </p:sp>
      <p:sp>
        <p:nvSpPr>
          <p:cNvPr id="5" name="Text 3"/>
          <p:cNvSpPr/>
          <p:nvPr/>
        </p:nvSpPr>
        <p:spPr>
          <a:xfrm>
            <a:off x="793790" y="2310100"/>
            <a:ext cx="2480905" cy="310158"/>
          </a:xfrm>
          <a:prstGeom prst="rect">
            <a:avLst/>
          </a:prstGeom>
          <a:noFill/>
          <a:ln/>
        </p:spPr>
        <p:txBody>
          <a:bodyPr wrap="none" lIns="0" tIns="0" rIns="0" bIns="0" rtlCol="0" anchor="t"/>
          <a:lstStyle/>
          <a:p>
            <a:pPr marL="0" indent="0" algn="l">
              <a:lnSpc>
                <a:spcPts val="2400"/>
              </a:lnSpc>
              <a:buNone/>
            </a:pPr>
            <a:r>
              <a:rPr lang="en-US" sz="3200" b="1" dirty="0">
                <a:solidFill>
                  <a:srgbClr val="124E73"/>
                </a:solidFill>
                <a:latin typeface="MuseoModerno Medium" pitchFamily="34" charset="0"/>
                <a:ea typeface="MuseoModerno Medium" pitchFamily="34" charset="-122"/>
                <a:cs typeface="MuseoModerno Medium" pitchFamily="34" charset="-120"/>
              </a:rPr>
              <a:t>Core Problem</a:t>
            </a:r>
            <a:endParaRPr lang="en-US" sz="3200" b="1" dirty="0"/>
          </a:p>
        </p:txBody>
      </p:sp>
      <p:sp>
        <p:nvSpPr>
          <p:cNvPr id="6" name="Text 4"/>
          <p:cNvSpPr/>
          <p:nvPr/>
        </p:nvSpPr>
        <p:spPr>
          <a:xfrm>
            <a:off x="793790" y="2837250"/>
            <a:ext cx="6279356" cy="1270159"/>
          </a:xfrm>
          <a:prstGeom prst="rect">
            <a:avLst/>
          </a:prstGeom>
          <a:noFill/>
          <a:ln/>
        </p:spPr>
        <p:txBody>
          <a:bodyPr wrap="square" lIns="0" tIns="0" rIns="0" bIns="0" rtlCol="0" anchor="t"/>
          <a:lstStyle/>
          <a:p>
            <a:pPr marL="0" indent="0" algn="l">
              <a:lnSpc>
                <a:spcPts val="2500"/>
              </a:lnSpc>
              <a:buNone/>
            </a:pPr>
            <a:r>
              <a:rPr lang="en-US" sz="2400" dirty="0">
                <a:solidFill>
                  <a:srgbClr val="2B4150"/>
                </a:solidFill>
                <a:latin typeface="Source Sans 3" pitchFamily="34" charset="0"/>
                <a:ea typeface="Source Sans 3" pitchFamily="34" charset="-122"/>
                <a:cs typeface="Source Sans 3" pitchFamily="34" charset="-120"/>
              </a:rPr>
              <a:t>Intraday markets generate large amounts of data, making it difficult to manually identify volatility patterns. The key challenge is how to accurately detect and analyze volatility in real-time or near real-time using computational methods.</a:t>
            </a:r>
            <a:endParaRPr lang="en-US" sz="2400" dirty="0"/>
          </a:p>
        </p:txBody>
      </p:sp>
      <p:sp>
        <p:nvSpPr>
          <p:cNvPr id="7" name="Text 5"/>
          <p:cNvSpPr/>
          <p:nvPr/>
        </p:nvSpPr>
        <p:spPr>
          <a:xfrm>
            <a:off x="793790" y="4721881"/>
            <a:ext cx="2480905" cy="310158"/>
          </a:xfrm>
          <a:prstGeom prst="rect">
            <a:avLst/>
          </a:prstGeom>
          <a:noFill/>
          <a:ln/>
        </p:spPr>
        <p:txBody>
          <a:bodyPr wrap="none" lIns="0" tIns="0" rIns="0" bIns="0" rtlCol="0" anchor="t"/>
          <a:lstStyle/>
          <a:p>
            <a:pPr marL="0" indent="0" algn="l">
              <a:lnSpc>
                <a:spcPts val="2400"/>
              </a:lnSpc>
              <a:buNone/>
            </a:pPr>
            <a:r>
              <a:rPr lang="en-US" sz="3200" b="1" dirty="0">
                <a:solidFill>
                  <a:srgbClr val="124E73"/>
                </a:solidFill>
                <a:latin typeface="MuseoModerno Medium" pitchFamily="34" charset="0"/>
                <a:ea typeface="MuseoModerno Medium" pitchFamily="34" charset="-122"/>
                <a:cs typeface="MuseoModerno Medium" pitchFamily="34" charset="-120"/>
              </a:rPr>
              <a:t>Objectives</a:t>
            </a:r>
            <a:endParaRPr lang="en-US" sz="3200" b="1" dirty="0"/>
          </a:p>
        </p:txBody>
      </p:sp>
      <p:sp>
        <p:nvSpPr>
          <p:cNvPr id="8" name="Text 6"/>
          <p:cNvSpPr/>
          <p:nvPr/>
        </p:nvSpPr>
        <p:spPr>
          <a:xfrm>
            <a:off x="786170" y="5394965"/>
            <a:ext cx="6279356" cy="1478399"/>
          </a:xfrm>
          <a:prstGeom prst="rect">
            <a:avLst/>
          </a:prstGeom>
          <a:noFill/>
          <a:ln/>
        </p:spPr>
        <p:txBody>
          <a:bodyPr wrap="square" lIns="0" tIns="0" rIns="0" bIns="0" rtlCol="0" anchor="t"/>
          <a:lstStyle/>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Analyze intraday market data and extract meaningful patterns</a:t>
            </a:r>
            <a:endParaRPr lang="en-US" sz="2400" dirty="0"/>
          </a:p>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Develop methods for detecting volatility using statistical indicators</a:t>
            </a:r>
            <a:endParaRPr lang="en-US" sz="2400" dirty="0"/>
          </a:p>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Identify periods of high and low volatility</a:t>
            </a:r>
            <a:endParaRPr lang="en-US" sz="2400" dirty="0"/>
          </a:p>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Provide insights supporting trading and risk management decisions</a:t>
            </a:r>
            <a:endParaRPr lang="en-US" sz="2400" dirty="0"/>
          </a:p>
        </p:txBody>
      </p:sp>
      <p:sp>
        <p:nvSpPr>
          <p:cNvPr id="9" name="Text 7"/>
          <p:cNvSpPr/>
          <p:nvPr/>
        </p:nvSpPr>
        <p:spPr>
          <a:xfrm>
            <a:off x="7564874" y="2316592"/>
            <a:ext cx="2480905" cy="310158"/>
          </a:xfrm>
          <a:prstGeom prst="rect">
            <a:avLst/>
          </a:prstGeom>
          <a:noFill/>
          <a:ln/>
        </p:spPr>
        <p:txBody>
          <a:bodyPr wrap="none" lIns="0" tIns="0" rIns="0" bIns="0" rtlCol="0" anchor="t"/>
          <a:lstStyle/>
          <a:p>
            <a:pPr marL="0" indent="0" algn="l">
              <a:lnSpc>
                <a:spcPts val="2400"/>
              </a:lnSpc>
              <a:buNone/>
            </a:pPr>
            <a:r>
              <a:rPr lang="en-US" sz="3200" b="1" dirty="0">
                <a:solidFill>
                  <a:srgbClr val="124E73"/>
                </a:solidFill>
                <a:latin typeface="MuseoModerno Medium" pitchFamily="34" charset="0"/>
                <a:ea typeface="MuseoModerno Medium" pitchFamily="34" charset="-122"/>
                <a:cs typeface="MuseoModerno Medium" pitchFamily="34" charset="-120"/>
              </a:rPr>
              <a:t>Scope</a:t>
            </a:r>
            <a:endParaRPr lang="en-US" sz="3200" b="1" dirty="0"/>
          </a:p>
        </p:txBody>
      </p:sp>
      <p:sp>
        <p:nvSpPr>
          <p:cNvPr id="10" name="Text 8"/>
          <p:cNvSpPr/>
          <p:nvPr/>
        </p:nvSpPr>
        <p:spPr>
          <a:xfrm>
            <a:off x="7557254" y="2814117"/>
            <a:ext cx="6279356" cy="1795939"/>
          </a:xfrm>
          <a:prstGeom prst="rect">
            <a:avLst/>
          </a:prstGeom>
          <a:noFill/>
          <a:ln/>
        </p:spPr>
        <p:txBody>
          <a:bodyPr wrap="square" lIns="0" tIns="0" rIns="0" bIns="0" rtlCol="0" anchor="t"/>
          <a:lstStyle/>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Focuses on intraday market data analysis</a:t>
            </a:r>
            <a:endParaRPr lang="en-US" sz="2400" dirty="0"/>
          </a:p>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Applies basic statistical and analytical techniques</a:t>
            </a:r>
            <a:endParaRPr lang="en-US" sz="2400" dirty="0"/>
          </a:p>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Usable for educational purposes and as a foundation for trading strategies</a:t>
            </a:r>
            <a:endParaRPr lang="en-US" sz="2400" dirty="0"/>
          </a:p>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Helps understand short-term market behavior</a:t>
            </a:r>
            <a:endParaRPr lang="en-US" sz="2400" dirty="0"/>
          </a:p>
        </p:txBody>
      </p:sp>
      <p:sp>
        <p:nvSpPr>
          <p:cNvPr id="11" name="Text 9"/>
          <p:cNvSpPr/>
          <p:nvPr/>
        </p:nvSpPr>
        <p:spPr>
          <a:xfrm>
            <a:off x="7564874" y="5047226"/>
            <a:ext cx="2480905" cy="310158"/>
          </a:xfrm>
          <a:prstGeom prst="rect">
            <a:avLst/>
          </a:prstGeom>
          <a:noFill/>
          <a:ln/>
        </p:spPr>
        <p:txBody>
          <a:bodyPr wrap="none" lIns="0" tIns="0" rIns="0" bIns="0" rtlCol="0" anchor="t"/>
          <a:lstStyle/>
          <a:p>
            <a:pPr marL="0" indent="0" algn="l">
              <a:lnSpc>
                <a:spcPts val="2400"/>
              </a:lnSpc>
              <a:buNone/>
            </a:pPr>
            <a:r>
              <a:rPr lang="en-US" sz="3200" b="1" dirty="0">
                <a:solidFill>
                  <a:srgbClr val="124E73"/>
                </a:solidFill>
                <a:latin typeface="MuseoModerno Medium" pitchFamily="34" charset="0"/>
                <a:ea typeface="MuseoModerno Medium" pitchFamily="34" charset="-122"/>
                <a:cs typeface="MuseoModerno Medium" pitchFamily="34" charset="-120"/>
              </a:rPr>
              <a:t>Limitations</a:t>
            </a:r>
            <a:endParaRPr lang="en-US" sz="3200" b="1" dirty="0"/>
          </a:p>
        </p:txBody>
      </p:sp>
      <p:sp>
        <p:nvSpPr>
          <p:cNvPr id="12" name="Text 10"/>
          <p:cNvSpPr/>
          <p:nvPr/>
        </p:nvSpPr>
        <p:spPr>
          <a:xfrm>
            <a:off x="7564874" y="5511553"/>
            <a:ext cx="6279356" cy="1478399"/>
          </a:xfrm>
          <a:prstGeom prst="rect">
            <a:avLst/>
          </a:prstGeom>
          <a:noFill/>
          <a:ln/>
        </p:spPr>
        <p:txBody>
          <a:bodyPr wrap="square" lIns="0" tIns="0" rIns="0" bIns="0" rtlCol="0" anchor="t"/>
          <a:lstStyle/>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Accuracy depends on data quality and availability</a:t>
            </a:r>
            <a:endParaRPr lang="en-US" sz="2400" dirty="0"/>
          </a:p>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Does not guarantee profitable trading outcomes</a:t>
            </a:r>
            <a:endParaRPr lang="en-US" sz="2400" dirty="0"/>
          </a:p>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Limited to specific indicators; may not capture all market factors</a:t>
            </a:r>
            <a:endParaRPr lang="en-US" sz="2400" dirty="0"/>
          </a:p>
          <a:p>
            <a:pPr marL="342900" indent="-342900" algn="l">
              <a:lnSpc>
                <a:spcPts val="2500"/>
              </a:lnSpc>
              <a:buSzPct val="100000"/>
              <a:buChar char="•"/>
            </a:pPr>
            <a:r>
              <a:rPr lang="en-US" sz="2400" dirty="0">
                <a:solidFill>
                  <a:srgbClr val="2B4150"/>
                </a:solidFill>
                <a:latin typeface="Source Sans 3" pitchFamily="34" charset="0"/>
                <a:ea typeface="Source Sans 3" pitchFamily="34" charset="-122"/>
                <a:cs typeface="Source Sans 3" pitchFamily="34" charset="-120"/>
              </a:rPr>
              <a:t>Real-time implementation may require additional optimization</a:t>
            </a:r>
            <a:endParaRPr lang="en-US" sz="2400" dirty="0"/>
          </a:p>
        </p:txBody>
      </p:sp>
      <p:sp>
        <p:nvSpPr>
          <p:cNvPr id="13" name="Rectangle 12">
            <a:extLst>
              <a:ext uri="{FF2B5EF4-FFF2-40B4-BE49-F238E27FC236}">
                <a16:creationId xmlns:a16="http://schemas.microsoft.com/office/drawing/2014/main" id="{F42A9C56-8D6D-4A47-816F-0911BE2EB878}"/>
              </a:ext>
            </a:extLst>
          </p:cNvPr>
          <p:cNvSpPr/>
          <p:nvPr/>
        </p:nvSpPr>
        <p:spPr>
          <a:xfrm flipV="1">
            <a:off x="12662703" y="76392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b="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pic>
        <p:nvPicPr>
          <p:cNvPr id="3" name="Image 1" descr="preencoded.png"/>
          <p:cNvPicPr>
            <a:picLocks noChangeAspect="1"/>
          </p:cNvPicPr>
          <p:nvPr/>
        </p:nvPicPr>
        <p:blipFill>
          <a:blip r:embed="rId4"/>
          <a:stretch>
            <a:fillRect/>
          </a:stretch>
        </p:blipFill>
        <p:spPr>
          <a:xfrm>
            <a:off x="89892" y="1461492"/>
            <a:ext cx="5306616" cy="5306616"/>
          </a:xfrm>
          <a:prstGeom prst="rect">
            <a:avLst/>
          </a:prstGeom>
        </p:spPr>
      </p:pic>
      <p:sp>
        <p:nvSpPr>
          <p:cNvPr id="4" name="Shape 0"/>
          <p:cNvSpPr/>
          <p:nvPr/>
        </p:nvSpPr>
        <p:spPr>
          <a:xfrm>
            <a:off x="6205776" y="552093"/>
            <a:ext cx="897969" cy="342543"/>
          </a:xfrm>
          <a:prstGeom prst="roundRect">
            <a:avLst>
              <a:gd name="adj" fmla="val 6301"/>
            </a:avLst>
          </a:prstGeom>
          <a:noFill/>
          <a:ln w="7620">
            <a:solidFill>
              <a:srgbClr val="325F7B"/>
            </a:solidFill>
            <a:prstDash val="solid"/>
          </a:ln>
        </p:spPr>
      </p:sp>
      <p:sp>
        <p:nvSpPr>
          <p:cNvPr id="5" name="Text 1"/>
          <p:cNvSpPr/>
          <p:nvPr/>
        </p:nvSpPr>
        <p:spPr>
          <a:xfrm>
            <a:off x="6321266" y="613648"/>
            <a:ext cx="666988" cy="219432"/>
          </a:xfrm>
          <a:prstGeom prst="rect">
            <a:avLst/>
          </a:prstGeom>
          <a:noFill/>
          <a:ln/>
        </p:spPr>
        <p:txBody>
          <a:bodyPr wrap="none" lIns="0" tIns="0" rIns="0" bIns="0" rtlCol="0" anchor="t"/>
          <a:lstStyle/>
          <a:p>
            <a:pPr marL="0" indent="0" algn="l">
              <a:lnSpc>
                <a:spcPts val="1700"/>
              </a:lnSpc>
              <a:buNone/>
            </a:pPr>
            <a:r>
              <a:rPr lang="en-US" sz="1200" b="1" dirty="0">
                <a:solidFill>
                  <a:srgbClr val="325F7B"/>
                </a:solidFill>
                <a:latin typeface="Source Sans 3" pitchFamily="34" charset="0"/>
                <a:ea typeface="Source Sans 3" pitchFamily="34" charset="-122"/>
                <a:cs typeface="Source Sans 3" pitchFamily="34" charset="-120"/>
              </a:rPr>
              <a:t>CHAPTER 2</a:t>
            </a:r>
            <a:endParaRPr lang="en-US" sz="1200" b="1" dirty="0"/>
          </a:p>
        </p:txBody>
      </p:sp>
      <p:sp>
        <p:nvSpPr>
          <p:cNvPr id="6" name="Text 2"/>
          <p:cNvSpPr/>
          <p:nvPr/>
        </p:nvSpPr>
        <p:spPr>
          <a:xfrm>
            <a:off x="6205776" y="959763"/>
            <a:ext cx="4496633" cy="562094"/>
          </a:xfrm>
          <a:prstGeom prst="rect">
            <a:avLst/>
          </a:prstGeom>
          <a:noFill/>
          <a:ln/>
        </p:spPr>
        <p:txBody>
          <a:bodyPr wrap="none" lIns="0" tIns="0" rIns="0" bIns="0" rtlCol="0" anchor="t"/>
          <a:lstStyle/>
          <a:p>
            <a:pPr marL="0" indent="0" algn="l">
              <a:lnSpc>
                <a:spcPts val="4400"/>
              </a:lnSpc>
              <a:buNone/>
            </a:pPr>
            <a:r>
              <a:rPr lang="en-US" sz="3600" b="1" dirty="0">
                <a:solidFill>
                  <a:srgbClr val="124E73"/>
                </a:solidFill>
                <a:latin typeface="MuseoModerno Medium" pitchFamily="34" charset="0"/>
                <a:ea typeface="MuseoModerno Medium" pitchFamily="34" charset="-122"/>
                <a:cs typeface="MuseoModerno Medium" pitchFamily="34" charset="-120"/>
              </a:rPr>
              <a:t>Literature Survey</a:t>
            </a:r>
            <a:endParaRPr lang="en-US" sz="3600" b="1" dirty="0"/>
          </a:p>
        </p:txBody>
      </p:sp>
      <p:sp>
        <p:nvSpPr>
          <p:cNvPr id="7" name="Shape 3"/>
          <p:cNvSpPr/>
          <p:nvPr/>
        </p:nvSpPr>
        <p:spPr>
          <a:xfrm>
            <a:off x="6205775" y="1559755"/>
            <a:ext cx="7705249" cy="1514793"/>
          </a:xfrm>
          <a:prstGeom prst="roundRect">
            <a:avLst>
              <a:gd name="adj" fmla="val 2096"/>
            </a:avLst>
          </a:prstGeom>
          <a:solidFill>
            <a:srgbClr val="F3EEE3"/>
          </a:solidFill>
          <a:ln/>
        </p:spPr>
      </p:sp>
      <p:sp>
        <p:nvSpPr>
          <p:cNvPr id="8" name="Text 4"/>
          <p:cNvSpPr/>
          <p:nvPr/>
        </p:nvSpPr>
        <p:spPr>
          <a:xfrm>
            <a:off x="6385559" y="1769592"/>
            <a:ext cx="2248257" cy="280988"/>
          </a:xfrm>
          <a:prstGeom prst="rect">
            <a:avLst/>
          </a:prstGeom>
          <a:noFill/>
          <a:ln/>
        </p:spPr>
        <p:txBody>
          <a:bodyPr wrap="none" lIns="0" tIns="0" rIns="0" bIns="0" rtlCol="0" anchor="t"/>
          <a:lstStyle/>
          <a:p>
            <a:pPr marL="0" indent="0" algn="l">
              <a:lnSpc>
                <a:spcPts val="2200"/>
              </a:lnSpc>
              <a:buNone/>
            </a:pPr>
            <a:r>
              <a:rPr lang="en-US" sz="2000" b="1" dirty="0">
                <a:solidFill>
                  <a:srgbClr val="2B4150"/>
                </a:solidFill>
                <a:latin typeface="MuseoModerno Medium" pitchFamily="34" charset="0"/>
                <a:ea typeface="MuseoModerno Medium" pitchFamily="34" charset="-122"/>
                <a:cs typeface="MuseoModerno Medium" pitchFamily="34" charset="-120"/>
              </a:rPr>
              <a:t>Volatility Clustering</a:t>
            </a:r>
            <a:endParaRPr lang="en-US" sz="2000" b="1" dirty="0"/>
          </a:p>
        </p:txBody>
      </p:sp>
      <p:sp>
        <p:nvSpPr>
          <p:cNvPr id="9" name="Text 5"/>
          <p:cNvSpPr/>
          <p:nvPr/>
        </p:nvSpPr>
        <p:spPr>
          <a:xfrm>
            <a:off x="6385560" y="2222066"/>
            <a:ext cx="7345680" cy="548640"/>
          </a:xfrm>
          <a:prstGeom prst="rect">
            <a:avLst/>
          </a:prstGeom>
          <a:noFill/>
          <a:ln/>
        </p:spPr>
        <p:txBody>
          <a:bodyPr wrap="square" lIns="0" tIns="0" rIns="0" bIns="0" rtlCol="0" anchor="t"/>
          <a:lstStyle/>
          <a:p>
            <a:pPr marL="0" indent="0" algn="just">
              <a:lnSpc>
                <a:spcPts val="2150"/>
              </a:lnSpc>
              <a:buNone/>
            </a:pPr>
            <a:r>
              <a:rPr lang="en-US" i="1" dirty="0">
                <a:solidFill>
                  <a:srgbClr val="2B4150"/>
                </a:solidFill>
                <a:latin typeface="Source Sans 3" pitchFamily="34" charset="0"/>
                <a:ea typeface="Source Sans 3" pitchFamily="34" charset="-122"/>
                <a:cs typeface="Source Sans 3" pitchFamily="34" charset="-120"/>
              </a:rPr>
              <a:t>A key </a:t>
            </a:r>
            <a:r>
              <a:rPr lang="en-US" dirty="0">
                <a:solidFill>
                  <a:srgbClr val="2B4150"/>
                </a:solidFill>
                <a:latin typeface="Source Sans 3" pitchFamily="34" charset="0"/>
                <a:ea typeface="Source Sans 3" pitchFamily="34" charset="-122"/>
                <a:cs typeface="Source Sans 3" pitchFamily="34" charset="-120"/>
              </a:rPr>
              <a:t>observation</a:t>
            </a:r>
            <a:r>
              <a:rPr lang="en-US" i="1" dirty="0">
                <a:solidFill>
                  <a:srgbClr val="2B4150"/>
                </a:solidFill>
                <a:latin typeface="Source Sans 3" pitchFamily="34" charset="0"/>
                <a:ea typeface="Source Sans 3" pitchFamily="34" charset="-122"/>
                <a:cs typeface="Source Sans 3" pitchFamily="34" charset="-120"/>
              </a:rPr>
              <a:t> in financial data: periods of high volatility are followed by high volatility, and low follows low—indicating that market movements are not entirely random.</a:t>
            </a:r>
            <a:endParaRPr lang="en-US" i="1" dirty="0"/>
          </a:p>
        </p:txBody>
      </p:sp>
      <p:sp>
        <p:nvSpPr>
          <p:cNvPr id="10" name="Shape 6"/>
          <p:cNvSpPr/>
          <p:nvPr/>
        </p:nvSpPr>
        <p:spPr>
          <a:xfrm>
            <a:off x="6205776" y="3216235"/>
            <a:ext cx="7705249" cy="1286947"/>
          </a:xfrm>
          <a:prstGeom prst="roundRect">
            <a:avLst>
              <a:gd name="adj" fmla="val 2096"/>
            </a:avLst>
          </a:prstGeom>
          <a:solidFill>
            <a:srgbClr val="F3EEE3"/>
          </a:solidFill>
          <a:ln/>
        </p:spPr>
      </p:sp>
      <p:sp>
        <p:nvSpPr>
          <p:cNvPr id="11" name="Text 7"/>
          <p:cNvSpPr/>
          <p:nvPr/>
        </p:nvSpPr>
        <p:spPr>
          <a:xfrm>
            <a:off x="6385560" y="3396020"/>
            <a:ext cx="2531388" cy="280988"/>
          </a:xfrm>
          <a:prstGeom prst="rect">
            <a:avLst/>
          </a:prstGeom>
          <a:noFill/>
          <a:ln/>
        </p:spPr>
        <p:txBody>
          <a:bodyPr wrap="none" lIns="0" tIns="0" rIns="0" bIns="0" rtlCol="0" anchor="t"/>
          <a:lstStyle/>
          <a:p>
            <a:pPr marL="0" indent="0" algn="l">
              <a:lnSpc>
                <a:spcPts val="2200"/>
              </a:lnSpc>
              <a:buNone/>
            </a:pPr>
            <a:r>
              <a:rPr lang="en-US" sz="2000" b="1" dirty="0">
                <a:solidFill>
                  <a:srgbClr val="2B4150"/>
                </a:solidFill>
                <a:latin typeface="MuseoModerno Medium" pitchFamily="34" charset="0"/>
                <a:ea typeface="MuseoModerno Medium" pitchFamily="34" charset="-122"/>
                <a:cs typeface="MuseoModerno Medium" pitchFamily="34" charset="-120"/>
              </a:rPr>
              <a:t>ARCH &amp; GARCH Models</a:t>
            </a:r>
            <a:endParaRPr lang="en-US" sz="2000" b="1" dirty="0"/>
          </a:p>
        </p:txBody>
      </p:sp>
      <p:sp>
        <p:nvSpPr>
          <p:cNvPr id="12" name="Text 8"/>
          <p:cNvSpPr/>
          <p:nvPr/>
        </p:nvSpPr>
        <p:spPr>
          <a:xfrm>
            <a:off x="6385560" y="3774758"/>
            <a:ext cx="7345680" cy="548640"/>
          </a:xfrm>
          <a:prstGeom prst="rect">
            <a:avLst/>
          </a:prstGeom>
          <a:noFill/>
          <a:ln/>
        </p:spPr>
        <p:txBody>
          <a:bodyPr wrap="square" lIns="0" tIns="0" rIns="0" bIns="0" rtlCol="0" anchor="t"/>
          <a:lstStyle/>
          <a:p>
            <a:pPr marL="0" indent="0" algn="just">
              <a:lnSpc>
                <a:spcPts val="2150"/>
              </a:lnSpc>
              <a:buNone/>
            </a:pPr>
            <a:r>
              <a:rPr lang="en-US" dirty="0">
                <a:solidFill>
                  <a:srgbClr val="2B4150"/>
                </a:solidFill>
                <a:latin typeface="Source Sans 3" pitchFamily="34" charset="0"/>
                <a:ea typeface="Source Sans 3" pitchFamily="34" charset="-122"/>
                <a:cs typeface="Source Sans 3" pitchFamily="34" charset="-120"/>
              </a:rPr>
              <a:t>Traditional models widely used to analyze and predict volatility. They effectively capture time-varying fluctuations in financial data.</a:t>
            </a:r>
            <a:endParaRPr lang="en-US" dirty="0"/>
          </a:p>
        </p:txBody>
      </p:sp>
      <p:sp>
        <p:nvSpPr>
          <p:cNvPr id="13" name="Shape 9"/>
          <p:cNvSpPr/>
          <p:nvPr/>
        </p:nvSpPr>
        <p:spPr>
          <a:xfrm>
            <a:off x="6205776" y="4666178"/>
            <a:ext cx="7705249" cy="1561267"/>
          </a:xfrm>
          <a:prstGeom prst="roundRect">
            <a:avLst>
              <a:gd name="adj" fmla="val 1728"/>
            </a:avLst>
          </a:prstGeom>
          <a:solidFill>
            <a:srgbClr val="F3EEE3"/>
          </a:solidFill>
          <a:ln/>
        </p:spPr>
      </p:sp>
      <p:sp>
        <p:nvSpPr>
          <p:cNvPr id="14" name="Text 10"/>
          <p:cNvSpPr/>
          <p:nvPr/>
        </p:nvSpPr>
        <p:spPr>
          <a:xfrm>
            <a:off x="6385560" y="4845963"/>
            <a:ext cx="2248257" cy="280988"/>
          </a:xfrm>
          <a:prstGeom prst="rect">
            <a:avLst/>
          </a:prstGeom>
          <a:noFill/>
          <a:ln/>
        </p:spPr>
        <p:txBody>
          <a:bodyPr wrap="none" lIns="0" tIns="0" rIns="0" bIns="0" rtlCol="0" anchor="t"/>
          <a:lstStyle/>
          <a:p>
            <a:pPr marL="0" indent="0" algn="l">
              <a:lnSpc>
                <a:spcPts val="2200"/>
              </a:lnSpc>
              <a:buNone/>
            </a:pPr>
            <a:r>
              <a:rPr lang="en-US" sz="2000" b="1" dirty="0">
                <a:solidFill>
                  <a:srgbClr val="2B4150"/>
                </a:solidFill>
                <a:latin typeface="MuseoModerno Medium" pitchFamily="34" charset="0"/>
                <a:ea typeface="MuseoModerno Medium" pitchFamily="34" charset="-122"/>
                <a:cs typeface="MuseoModerno Medium" pitchFamily="34" charset="-120"/>
              </a:rPr>
              <a:t>Intraday Patterns</a:t>
            </a:r>
            <a:endParaRPr lang="en-US" sz="2000" b="1" dirty="0"/>
          </a:p>
        </p:txBody>
      </p:sp>
      <p:sp>
        <p:nvSpPr>
          <p:cNvPr id="15" name="Text 11"/>
          <p:cNvSpPr/>
          <p:nvPr/>
        </p:nvSpPr>
        <p:spPr>
          <a:xfrm>
            <a:off x="6385560" y="5224701"/>
            <a:ext cx="7345680" cy="822960"/>
          </a:xfrm>
          <a:prstGeom prst="rect">
            <a:avLst/>
          </a:prstGeom>
          <a:noFill/>
          <a:ln/>
        </p:spPr>
        <p:txBody>
          <a:bodyPr wrap="square" lIns="0" tIns="0" rIns="0" bIns="0" rtlCol="0" anchor="t"/>
          <a:lstStyle/>
          <a:p>
            <a:pPr marL="0" indent="0" algn="just">
              <a:lnSpc>
                <a:spcPts val="2150"/>
              </a:lnSpc>
              <a:buNone/>
            </a:pPr>
            <a:r>
              <a:rPr lang="en-US" dirty="0">
                <a:solidFill>
                  <a:srgbClr val="2B4150"/>
                </a:solidFill>
                <a:latin typeface="Source Sans 3" pitchFamily="34" charset="0"/>
                <a:ea typeface="Source Sans 3" pitchFamily="34" charset="-122"/>
                <a:cs typeface="Source Sans 3" pitchFamily="34" charset="-120"/>
              </a:rPr>
              <a:t>Research shows intraday data provides more detailed insights than daily data, with increased volatility during market opening and closing hours due to higher trading activity and information flow.</a:t>
            </a:r>
            <a:endParaRPr lang="en-US" dirty="0"/>
          </a:p>
        </p:txBody>
      </p:sp>
      <p:sp>
        <p:nvSpPr>
          <p:cNvPr id="16" name="Shape 12"/>
          <p:cNvSpPr/>
          <p:nvPr/>
        </p:nvSpPr>
        <p:spPr>
          <a:xfrm>
            <a:off x="6205776" y="6390442"/>
            <a:ext cx="7705249" cy="1422469"/>
          </a:xfrm>
          <a:prstGeom prst="roundRect">
            <a:avLst>
              <a:gd name="adj" fmla="val 2096"/>
            </a:avLst>
          </a:prstGeom>
          <a:solidFill>
            <a:srgbClr val="F3EEE3"/>
          </a:solidFill>
          <a:ln/>
        </p:spPr>
      </p:sp>
      <p:sp>
        <p:nvSpPr>
          <p:cNvPr id="17" name="Text 13"/>
          <p:cNvSpPr/>
          <p:nvPr/>
        </p:nvSpPr>
        <p:spPr>
          <a:xfrm>
            <a:off x="6385560" y="6570226"/>
            <a:ext cx="2622947" cy="280988"/>
          </a:xfrm>
          <a:prstGeom prst="rect">
            <a:avLst/>
          </a:prstGeom>
          <a:noFill/>
          <a:ln/>
        </p:spPr>
        <p:txBody>
          <a:bodyPr wrap="none" lIns="0" tIns="0" rIns="0" bIns="0" rtlCol="0" anchor="t"/>
          <a:lstStyle/>
          <a:p>
            <a:pPr marL="0" indent="0" algn="l">
              <a:lnSpc>
                <a:spcPts val="2200"/>
              </a:lnSpc>
              <a:buNone/>
            </a:pPr>
            <a:r>
              <a:rPr lang="en-US" sz="2000" b="1" dirty="0">
                <a:solidFill>
                  <a:srgbClr val="2B4150"/>
                </a:solidFill>
                <a:latin typeface="MuseoModerno Medium" pitchFamily="34" charset="0"/>
                <a:ea typeface="MuseoModerno Medium" pitchFamily="34" charset="-122"/>
                <a:cs typeface="MuseoModerno Medium" pitchFamily="34" charset="-120"/>
              </a:rPr>
              <a:t>Modern ML Approaches</a:t>
            </a:r>
            <a:endParaRPr lang="en-US" sz="2000" b="1" dirty="0"/>
          </a:p>
        </p:txBody>
      </p:sp>
      <p:sp>
        <p:nvSpPr>
          <p:cNvPr id="18" name="Text 14"/>
          <p:cNvSpPr/>
          <p:nvPr/>
        </p:nvSpPr>
        <p:spPr>
          <a:xfrm>
            <a:off x="6385559" y="6576894"/>
            <a:ext cx="7345680" cy="548640"/>
          </a:xfrm>
          <a:prstGeom prst="rect">
            <a:avLst/>
          </a:prstGeom>
          <a:noFill/>
          <a:ln/>
        </p:spPr>
        <p:txBody>
          <a:bodyPr wrap="square" lIns="0" tIns="0" rIns="0" bIns="0" rtlCol="0" anchor="t"/>
          <a:lstStyle/>
          <a:p>
            <a:pPr marL="0" indent="0" algn="just">
              <a:lnSpc>
                <a:spcPts val="2150"/>
              </a:lnSpc>
              <a:buNone/>
            </a:pPr>
            <a:endParaRPr lang="en-US" dirty="0">
              <a:solidFill>
                <a:srgbClr val="2B4150"/>
              </a:solidFill>
              <a:latin typeface="Source Sans 3" pitchFamily="34" charset="0"/>
              <a:ea typeface="Source Sans 3" pitchFamily="34" charset="-122"/>
              <a:cs typeface="Source Sans 3" pitchFamily="34" charset="-120"/>
            </a:endParaRPr>
          </a:p>
          <a:p>
            <a:pPr marL="0" indent="0" algn="just">
              <a:lnSpc>
                <a:spcPts val="2150"/>
              </a:lnSpc>
              <a:buNone/>
            </a:pPr>
            <a:r>
              <a:rPr lang="en-US" dirty="0">
                <a:solidFill>
                  <a:srgbClr val="2B4150"/>
                </a:solidFill>
                <a:latin typeface="Source Sans 3" pitchFamily="34" charset="0"/>
                <a:ea typeface="Source Sans 3" pitchFamily="34" charset="-122"/>
                <a:cs typeface="Source Sans 3" pitchFamily="34" charset="-120"/>
              </a:rPr>
              <a:t>Recent methods combine statistical models with machine learning techniques—such as clustering and regime detection—to improve accuracy and identify different market conditions.</a:t>
            </a:r>
            <a:endParaRPr lang="en-US" dirty="0"/>
          </a:p>
        </p:txBody>
      </p:sp>
      <p:sp>
        <p:nvSpPr>
          <p:cNvPr id="19" name="Rectangle 18">
            <a:extLst>
              <a:ext uri="{FF2B5EF4-FFF2-40B4-BE49-F238E27FC236}">
                <a16:creationId xmlns:a16="http://schemas.microsoft.com/office/drawing/2014/main" id="{9C2EF56B-E339-47B7-B032-21095F8BFDFD}"/>
              </a:ext>
            </a:extLst>
          </p:cNvPr>
          <p:cNvSpPr/>
          <p:nvPr/>
        </p:nvSpPr>
        <p:spPr>
          <a:xfrm flipV="1">
            <a:off x="12662703" y="76392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793790" y="1029891"/>
            <a:ext cx="974169" cy="373142"/>
          </a:xfrm>
          <a:prstGeom prst="roundRect">
            <a:avLst>
              <a:gd name="adj" fmla="val 6383"/>
            </a:avLst>
          </a:prstGeom>
          <a:solidFill>
            <a:srgbClr val="DBE8F0"/>
          </a:solidFill>
          <a:ln/>
        </p:spPr>
      </p:sp>
      <p:sp>
        <p:nvSpPr>
          <p:cNvPr id="3" name="Text 1"/>
          <p:cNvSpPr/>
          <p:nvPr/>
        </p:nvSpPr>
        <p:spPr>
          <a:xfrm>
            <a:off x="912852" y="1089422"/>
            <a:ext cx="736044" cy="254079"/>
          </a:xfrm>
          <a:prstGeom prst="rect">
            <a:avLst/>
          </a:prstGeom>
          <a:noFill/>
          <a:ln/>
        </p:spPr>
        <p:txBody>
          <a:bodyPr wrap="non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CHAPTER 3</a:t>
            </a:r>
            <a:endParaRPr lang="en-US" sz="1400" b="1" dirty="0"/>
          </a:p>
        </p:txBody>
      </p:sp>
      <p:sp>
        <p:nvSpPr>
          <p:cNvPr id="4" name="Text 2"/>
          <p:cNvSpPr/>
          <p:nvPr/>
        </p:nvSpPr>
        <p:spPr>
          <a:xfrm>
            <a:off x="793790" y="1482328"/>
            <a:ext cx="8891230" cy="620078"/>
          </a:xfrm>
          <a:prstGeom prst="rect">
            <a:avLst/>
          </a:prstGeom>
          <a:noFill/>
          <a:ln/>
        </p:spPr>
        <p:txBody>
          <a:bodyPr wrap="none" lIns="0" tIns="0" rIns="0" bIns="0" rtlCol="0" anchor="t"/>
          <a:lstStyle/>
          <a:p>
            <a:pPr marL="0" indent="0" algn="l">
              <a:lnSpc>
                <a:spcPts val="4850"/>
              </a:lnSpc>
              <a:buNone/>
            </a:pPr>
            <a:r>
              <a:rPr lang="en-US" sz="4000" b="1" dirty="0">
                <a:solidFill>
                  <a:srgbClr val="124E73"/>
                </a:solidFill>
                <a:latin typeface="MuseoModerno Medium" pitchFamily="34" charset="0"/>
                <a:ea typeface="MuseoModerno Medium" pitchFamily="34" charset="-122"/>
                <a:cs typeface="MuseoModerno Medium" pitchFamily="34" charset="-120"/>
              </a:rPr>
              <a:t>Software Requirements Specification</a:t>
            </a:r>
            <a:endParaRPr lang="en-US" sz="4000" b="1" dirty="0"/>
          </a:p>
        </p:txBody>
      </p:sp>
      <p:sp>
        <p:nvSpPr>
          <p:cNvPr id="5" name="Text 3"/>
          <p:cNvSpPr/>
          <p:nvPr/>
        </p:nvSpPr>
        <p:spPr>
          <a:xfrm>
            <a:off x="793790" y="2598420"/>
            <a:ext cx="2980134" cy="310158"/>
          </a:xfrm>
          <a:prstGeom prst="rect">
            <a:avLst/>
          </a:prstGeom>
          <a:noFill/>
          <a:ln/>
        </p:spPr>
        <p:txBody>
          <a:bodyPr wrap="none" lIns="0" tIns="0" rIns="0" bIns="0" rtlCol="0" anchor="t"/>
          <a:lstStyle/>
          <a:p>
            <a:pPr marL="0" indent="0" algn="l">
              <a:lnSpc>
                <a:spcPts val="2400"/>
              </a:lnSpc>
              <a:buNone/>
            </a:pPr>
            <a:r>
              <a:rPr lang="en-US" sz="2400" b="1" dirty="0">
                <a:solidFill>
                  <a:srgbClr val="124E73"/>
                </a:solidFill>
                <a:latin typeface="MuseoModerno Medium" pitchFamily="34" charset="0"/>
                <a:ea typeface="MuseoModerno Medium" pitchFamily="34" charset="-122"/>
                <a:cs typeface="MuseoModerno Medium" pitchFamily="34" charset="-120"/>
              </a:rPr>
              <a:t>Functional Requirements</a:t>
            </a:r>
            <a:endParaRPr lang="en-US" sz="2400" b="1" dirty="0"/>
          </a:p>
        </p:txBody>
      </p:sp>
      <p:sp>
        <p:nvSpPr>
          <p:cNvPr id="6" name="Text 4"/>
          <p:cNvSpPr/>
          <p:nvPr/>
        </p:nvSpPr>
        <p:spPr>
          <a:xfrm>
            <a:off x="793790" y="3106936"/>
            <a:ext cx="6279356" cy="2639258"/>
          </a:xfrm>
          <a:prstGeom prst="rect">
            <a:avLst/>
          </a:prstGeom>
          <a:noFill/>
          <a:ln/>
        </p:spPr>
        <p:txBody>
          <a:bodyPr wrap="square" lIns="0" tIns="0" rIns="0" bIns="0" rtlCol="0" anchor="t"/>
          <a:lstStyle/>
          <a:p>
            <a:pPr marL="342900" indent="-342900" algn="just">
              <a:lnSpc>
                <a:spcPts val="2500"/>
              </a:lnSpc>
              <a:buSzPct val="100000"/>
              <a:buChar char="•"/>
            </a:pPr>
            <a:r>
              <a:rPr lang="en-US" sz="2000" dirty="0">
                <a:solidFill>
                  <a:srgbClr val="2B4150"/>
                </a:solidFill>
                <a:latin typeface="Source Sans 3" pitchFamily="34" charset="0"/>
                <a:ea typeface="Source Sans 3" pitchFamily="34" charset="-122"/>
                <a:cs typeface="Source Sans 3" pitchFamily="34" charset="-120"/>
              </a:rPr>
              <a:t>Collect and process intraday market data</a:t>
            </a:r>
            <a:endParaRPr lang="en-US" sz="2000" dirty="0"/>
          </a:p>
          <a:p>
            <a:pPr marL="342900" indent="-342900" algn="just">
              <a:lnSpc>
                <a:spcPts val="2500"/>
              </a:lnSpc>
              <a:buSzPct val="100000"/>
              <a:buChar char="•"/>
            </a:pPr>
            <a:r>
              <a:rPr lang="en-US" sz="2000" dirty="0">
                <a:solidFill>
                  <a:srgbClr val="2B4150"/>
                </a:solidFill>
                <a:latin typeface="Source Sans 3" pitchFamily="34" charset="0"/>
                <a:ea typeface="Source Sans 3" pitchFamily="34" charset="-122"/>
                <a:cs typeface="Source Sans 3" pitchFamily="34" charset="-120"/>
              </a:rPr>
              <a:t>Calculate volatility using statistical indicators</a:t>
            </a:r>
            <a:endParaRPr lang="en-US" sz="2000" dirty="0"/>
          </a:p>
          <a:p>
            <a:pPr marL="342900" indent="-342900" algn="just">
              <a:lnSpc>
                <a:spcPts val="2500"/>
              </a:lnSpc>
              <a:buSzPct val="100000"/>
              <a:buChar char="•"/>
            </a:pPr>
            <a:r>
              <a:rPr lang="en-US" sz="2000" dirty="0">
                <a:solidFill>
                  <a:srgbClr val="2B4150"/>
                </a:solidFill>
                <a:latin typeface="Source Sans 3" pitchFamily="34" charset="0"/>
                <a:ea typeface="Source Sans 3" pitchFamily="34" charset="-122"/>
                <a:cs typeface="Source Sans 3" pitchFamily="34" charset="-120"/>
              </a:rPr>
              <a:t>Classify periods as high or low volatility</a:t>
            </a:r>
            <a:endParaRPr lang="en-US" sz="2000" dirty="0"/>
          </a:p>
          <a:p>
            <a:pPr marL="342900" indent="-342900" algn="just">
              <a:lnSpc>
                <a:spcPts val="2500"/>
              </a:lnSpc>
              <a:buSzPct val="100000"/>
              <a:buChar char="•"/>
            </a:pPr>
            <a:r>
              <a:rPr lang="en-US" sz="2000" dirty="0">
                <a:solidFill>
                  <a:srgbClr val="2B4150"/>
                </a:solidFill>
                <a:latin typeface="Source Sans 3" pitchFamily="34" charset="0"/>
                <a:ea typeface="Source Sans 3" pitchFamily="34" charset="-122"/>
                <a:cs typeface="Source Sans 3" pitchFamily="34" charset="-120"/>
              </a:rPr>
              <a:t>Allow users to input or select datasets</a:t>
            </a:r>
            <a:endParaRPr lang="en-US" sz="2000" dirty="0"/>
          </a:p>
          <a:p>
            <a:pPr marL="342900" indent="-342900" algn="just">
              <a:lnSpc>
                <a:spcPts val="2500"/>
              </a:lnSpc>
              <a:buSzPct val="100000"/>
              <a:buChar char="•"/>
            </a:pPr>
            <a:r>
              <a:rPr lang="en-US" sz="2000" dirty="0">
                <a:solidFill>
                  <a:srgbClr val="2B4150"/>
                </a:solidFill>
                <a:latin typeface="Source Sans 3" pitchFamily="34" charset="0"/>
                <a:ea typeface="Source Sans 3" pitchFamily="34" charset="-122"/>
                <a:cs typeface="Source Sans 3" pitchFamily="34" charset="-120"/>
              </a:rPr>
              <a:t>Display results clearly (charts, graphs, summaries)</a:t>
            </a:r>
            <a:endParaRPr lang="en-US" sz="2000" dirty="0"/>
          </a:p>
          <a:p>
            <a:pPr marL="342900" indent="-342900" algn="just">
              <a:lnSpc>
                <a:spcPts val="2500"/>
              </a:lnSpc>
              <a:buSzPct val="100000"/>
              <a:buChar char="•"/>
            </a:pPr>
            <a:r>
              <a:rPr lang="en-US" sz="2000" dirty="0">
                <a:solidFill>
                  <a:srgbClr val="2B4150"/>
                </a:solidFill>
                <a:latin typeface="Source Sans 3" pitchFamily="34" charset="0"/>
                <a:ea typeface="Source Sans 3" pitchFamily="34" charset="-122"/>
                <a:cs typeface="Source Sans 3" pitchFamily="34" charset="-120"/>
              </a:rPr>
              <a:t>Support data preprocessing (cleaning, formatting)</a:t>
            </a:r>
            <a:endParaRPr lang="en-US" sz="2000" dirty="0"/>
          </a:p>
          <a:p>
            <a:pPr marL="342900" indent="-342900" algn="just">
              <a:lnSpc>
                <a:spcPts val="2500"/>
              </a:lnSpc>
              <a:buSzPct val="100000"/>
              <a:buChar char="•"/>
            </a:pPr>
            <a:r>
              <a:rPr lang="en-US" sz="2000" dirty="0">
                <a:solidFill>
                  <a:srgbClr val="2B4150"/>
                </a:solidFill>
                <a:latin typeface="Source Sans 3" pitchFamily="34" charset="0"/>
                <a:ea typeface="Source Sans 3" pitchFamily="34" charset="-122"/>
                <a:cs typeface="Source Sans 3" pitchFamily="34" charset="-120"/>
              </a:rPr>
              <a:t>Generate outputs to assist trading decisions</a:t>
            </a:r>
            <a:endParaRPr lang="en-US" sz="2000" dirty="0"/>
          </a:p>
        </p:txBody>
      </p:sp>
      <p:sp>
        <p:nvSpPr>
          <p:cNvPr id="7" name="Shape 5"/>
          <p:cNvSpPr/>
          <p:nvPr/>
        </p:nvSpPr>
        <p:spPr>
          <a:xfrm>
            <a:off x="7421999" y="2400062"/>
            <a:ext cx="6565106" cy="3415546"/>
          </a:xfrm>
          <a:prstGeom prst="roundRect">
            <a:avLst>
              <a:gd name="adj" fmla="val 872"/>
            </a:avLst>
          </a:prstGeom>
          <a:solidFill>
            <a:srgbClr val="063E5F"/>
          </a:solidFill>
          <a:ln/>
        </p:spPr>
      </p:sp>
      <p:sp>
        <p:nvSpPr>
          <p:cNvPr id="8" name="Text 6"/>
          <p:cNvSpPr/>
          <p:nvPr/>
        </p:nvSpPr>
        <p:spPr>
          <a:xfrm>
            <a:off x="7620357" y="2598420"/>
            <a:ext cx="3579733" cy="310158"/>
          </a:xfrm>
          <a:prstGeom prst="rect">
            <a:avLst/>
          </a:prstGeom>
          <a:noFill/>
          <a:ln/>
        </p:spPr>
        <p:txBody>
          <a:bodyPr wrap="none" lIns="0" tIns="0" rIns="0" bIns="0" rtlCol="0" anchor="t"/>
          <a:lstStyle/>
          <a:p>
            <a:pPr marL="0" indent="0" algn="l">
              <a:lnSpc>
                <a:spcPts val="2400"/>
              </a:lnSpc>
              <a:buNone/>
            </a:pPr>
            <a:r>
              <a:rPr lang="en-US" sz="2000" b="1" dirty="0">
                <a:solidFill>
                  <a:srgbClr val="FFFFFF"/>
                </a:solidFill>
                <a:latin typeface="MuseoModerno Medium" pitchFamily="34" charset="0"/>
                <a:ea typeface="MuseoModerno Medium" pitchFamily="34" charset="-122"/>
                <a:cs typeface="MuseoModerno Medium" pitchFamily="34" charset="-120"/>
              </a:rPr>
              <a:t>Non-Functional Requirements</a:t>
            </a:r>
            <a:endParaRPr lang="en-US" sz="2000" b="1" dirty="0"/>
          </a:p>
        </p:txBody>
      </p:sp>
      <p:sp>
        <p:nvSpPr>
          <p:cNvPr id="9" name="Text 7"/>
          <p:cNvSpPr/>
          <p:nvPr/>
        </p:nvSpPr>
        <p:spPr>
          <a:xfrm>
            <a:off x="7620357" y="3106936"/>
            <a:ext cx="6168390" cy="2639258"/>
          </a:xfrm>
          <a:prstGeom prst="rect">
            <a:avLst/>
          </a:prstGeom>
          <a:noFill/>
          <a:ln/>
        </p:spPr>
        <p:txBody>
          <a:bodyPr wrap="square" lIns="0" tIns="0" rIns="0" bIns="0" rtlCol="0" anchor="t"/>
          <a:lstStyle/>
          <a:p>
            <a:pPr marL="342900" indent="-342900" algn="just">
              <a:lnSpc>
                <a:spcPts val="2500"/>
              </a:lnSpc>
              <a:buSzPct val="100000"/>
              <a:buChar char="•"/>
            </a:pPr>
            <a:r>
              <a:rPr lang="en-US" b="1" dirty="0">
                <a:solidFill>
                  <a:srgbClr val="FFFFFF"/>
                </a:solidFill>
                <a:latin typeface="Source Sans 3" pitchFamily="34" charset="0"/>
                <a:ea typeface="Source Sans 3" pitchFamily="34" charset="-122"/>
                <a:cs typeface="Source Sans 3" pitchFamily="34" charset="-120"/>
              </a:rPr>
              <a:t>Performance: Efficient processing with minimal delay</a:t>
            </a:r>
            <a:endParaRPr lang="en-US" b="1" dirty="0"/>
          </a:p>
          <a:p>
            <a:pPr marL="342900" indent="-342900" algn="just">
              <a:lnSpc>
                <a:spcPts val="2500"/>
              </a:lnSpc>
              <a:buSzPct val="100000"/>
              <a:buChar char="•"/>
            </a:pPr>
            <a:r>
              <a:rPr lang="en-US" b="1" dirty="0">
                <a:solidFill>
                  <a:srgbClr val="FFFFFF"/>
                </a:solidFill>
                <a:latin typeface="Source Sans 3" pitchFamily="34" charset="0"/>
                <a:ea typeface="Source Sans 3" pitchFamily="34" charset="-122"/>
                <a:cs typeface="Source Sans 3" pitchFamily="34" charset="-120"/>
              </a:rPr>
              <a:t>Accuracy: Reliable, correctly calculated results</a:t>
            </a:r>
            <a:endParaRPr lang="en-US" b="1" dirty="0"/>
          </a:p>
          <a:p>
            <a:pPr marL="342900" indent="-342900" algn="just">
              <a:lnSpc>
                <a:spcPts val="2500"/>
              </a:lnSpc>
              <a:buSzPct val="100000"/>
              <a:buChar char="•"/>
            </a:pPr>
            <a:r>
              <a:rPr lang="en-US" b="1" dirty="0">
                <a:solidFill>
                  <a:srgbClr val="FFFFFF"/>
                </a:solidFill>
                <a:latin typeface="Source Sans 3" pitchFamily="34" charset="0"/>
                <a:ea typeface="Source Sans 3" pitchFamily="34" charset="-122"/>
                <a:cs typeface="Source Sans 3" pitchFamily="34" charset="-120"/>
              </a:rPr>
              <a:t>Usability: Simple, easy-to-use interface</a:t>
            </a:r>
            <a:endParaRPr lang="en-US" b="1" dirty="0"/>
          </a:p>
          <a:p>
            <a:pPr marL="342900" indent="-342900" algn="just">
              <a:lnSpc>
                <a:spcPts val="2500"/>
              </a:lnSpc>
              <a:buSzPct val="100000"/>
              <a:buChar char="•"/>
            </a:pPr>
            <a:r>
              <a:rPr lang="en-US" b="1" dirty="0">
                <a:solidFill>
                  <a:srgbClr val="FFFFFF"/>
                </a:solidFill>
                <a:latin typeface="Source Sans 3" pitchFamily="34" charset="0"/>
                <a:ea typeface="Source Sans 3" pitchFamily="34" charset="-122"/>
                <a:cs typeface="Source Sans 3" pitchFamily="34" charset="-120"/>
              </a:rPr>
              <a:t>Scalability: Handle increasing data volumes</a:t>
            </a:r>
            <a:endParaRPr lang="en-US" b="1" dirty="0"/>
          </a:p>
          <a:p>
            <a:pPr marL="342900" indent="-342900" algn="just">
              <a:lnSpc>
                <a:spcPts val="2500"/>
              </a:lnSpc>
              <a:buSzPct val="100000"/>
              <a:buChar char="•"/>
            </a:pPr>
            <a:r>
              <a:rPr lang="en-US" b="1" dirty="0">
                <a:solidFill>
                  <a:srgbClr val="FFFFFF"/>
                </a:solidFill>
                <a:latin typeface="Source Sans 3" pitchFamily="34" charset="0"/>
                <a:ea typeface="Source Sans 3" pitchFamily="34" charset="-122"/>
                <a:cs typeface="Source Sans 3" pitchFamily="34" charset="-120"/>
              </a:rPr>
              <a:t>Reliability: Consistent performance without crashes</a:t>
            </a:r>
            <a:endParaRPr lang="en-US" b="1" dirty="0"/>
          </a:p>
          <a:p>
            <a:pPr marL="342900" indent="-342900" algn="just">
              <a:lnSpc>
                <a:spcPts val="2500"/>
              </a:lnSpc>
              <a:buSzPct val="100000"/>
              <a:buChar char="•"/>
            </a:pPr>
            <a:r>
              <a:rPr lang="en-US" b="1" dirty="0">
                <a:solidFill>
                  <a:srgbClr val="FFFFFF"/>
                </a:solidFill>
                <a:latin typeface="Source Sans 3" pitchFamily="34" charset="0"/>
                <a:ea typeface="Source Sans 3" pitchFamily="34" charset="-122"/>
                <a:cs typeface="Source Sans 3" pitchFamily="34" charset="-120"/>
              </a:rPr>
              <a:t>Maintainability: Modular, easy-to-update code</a:t>
            </a:r>
            <a:endParaRPr lang="en-US" b="1" dirty="0"/>
          </a:p>
          <a:p>
            <a:pPr marL="342900" indent="-342900" algn="just">
              <a:lnSpc>
                <a:spcPts val="2500"/>
              </a:lnSpc>
              <a:buSzPct val="100000"/>
              <a:buChar char="•"/>
            </a:pPr>
            <a:r>
              <a:rPr lang="en-US" b="1" dirty="0">
                <a:solidFill>
                  <a:srgbClr val="FFFFFF"/>
                </a:solidFill>
                <a:latin typeface="Source Sans 3" pitchFamily="34" charset="0"/>
                <a:ea typeface="Source Sans 3" pitchFamily="34" charset="-122"/>
                <a:cs typeface="Source Sans 3" pitchFamily="34" charset="-120"/>
              </a:rPr>
              <a:t>Security: Basic data protection and integrity</a:t>
            </a:r>
            <a:endParaRPr lang="en-US" b="1" dirty="0"/>
          </a:p>
        </p:txBody>
      </p:sp>
      <p:sp>
        <p:nvSpPr>
          <p:cNvPr id="10" name="Shape 8"/>
          <p:cNvSpPr/>
          <p:nvPr/>
        </p:nvSpPr>
        <p:spPr>
          <a:xfrm>
            <a:off x="793790" y="6038850"/>
            <a:ext cx="13042821" cy="1160740"/>
          </a:xfrm>
          <a:prstGeom prst="roundRect">
            <a:avLst>
              <a:gd name="adj" fmla="val 2565"/>
            </a:avLst>
          </a:prstGeom>
          <a:solidFill>
            <a:srgbClr val="B6D6FC"/>
          </a:solidFill>
          <a:ln/>
        </p:spPr>
      </p:sp>
      <p:pic>
        <p:nvPicPr>
          <p:cNvPr id="11" name="Image 0" descr="preencoded.png"/>
          <p:cNvPicPr>
            <a:picLocks noChangeAspect="1"/>
          </p:cNvPicPr>
          <p:nvPr/>
        </p:nvPicPr>
        <p:blipFill>
          <a:blip r:embed="rId3"/>
          <a:stretch>
            <a:fillRect/>
          </a:stretch>
        </p:blipFill>
        <p:spPr>
          <a:xfrm>
            <a:off x="992148" y="6334125"/>
            <a:ext cx="248007" cy="198358"/>
          </a:xfrm>
          <a:prstGeom prst="rect">
            <a:avLst/>
          </a:prstGeom>
        </p:spPr>
      </p:pic>
      <p:sp>
        <p:nvSpPr>
          <p:cNvPr id="12" name="Text 9"/>
          <p:cNvSpPr/>
          <p:nvPr/>
        </p:nvSpPr>
        <p:spPr>
          <a:xfrm>
            <a:off x="1438513" y="6286738"/>
            <a:ext cx="12199739" cy="635079"/>
          </a:xfrm>
          <a:prstGeom prst="rect">
            <a:avLst/>
          </a:prstGeom>
          <a:noFill/>
          <a:ln/>
        </p:spPr>
        <p:txBody>
          <a:bodyPr wrap="square" lIns="0" tIns="0" rIns="0" bIns="0" rtlCol="0" anchor="t"/>
          <a:lstStyle/>
          <a:p>
            <a:pPr marL="0" indent="0" algn="l">
              <a:lnSpc>
                <a:spcPts val="2500"/>
              </a:lnSpc>
              <a:buNone/>
            </a:pPr>
            <a:r>
              <a:rPr lang="en-US" dirty="0">
                <a:solidFill>
                  <a:srgbClr val="000000"/>
                </a:solidFill>
                <a:latin typeface="Source Sans 3" pitchFamily="34" charset="0"/>
                <a:ea typeface="Source Sans 3" pitchFamily="34" charset="-122"/>
                <a:cs typeface="Source Sans 3" pitchFamily="34" charset="-120"/>
              </a:rPr>
              <a:t>System Requirements: Hardware: 4GB+ RAM (8GB recommended), Intel i3+, stable internet. Software: Windows/Linux/macOS, Python, Pandas, NumPy, Matplotlib/Seaborn, Scikit-learn, Jupyter/VS Code/PyCharm.</a:t>
            </a:r>
            <a:endParaRPr lang="en-US" dirty="0"/>
          </a:p>
        </p:txBody>
      </p:sp>
      <p:sp>
        <p:nvSpPr>
          <p:cNvPr id="13" name="Rectangle 12">
            <a:extLst>
              <a:ext uri="{FF2B5EF4-FFF2-40B4-BE49-F238E27FC236}">
                <a16:creationId xmlns:a16="http://schemas.microsoft.com/office/drawing/2014/main" id="{15C258F6-3068-4DC3-9684-5153CDDA0AD0}"/>
              </a:ext>
            </a:extLst>
          </p:cNvPr>
          <p:cNvSpPr/>
          <p:nvPr/>
        </p:nvSpPr>
        <p:spPr>
          <a:xfrm flipV="1">
            <a:off x="12662703" y="76392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
        <p:nvSpPr>
          <p:cNvPr id="14" name="Rectangle 13">
            <a:extLst>
              <a:ext uri="{FF2B5EF4-FFF2-40B4-BE49-F238E27FC236}">
                <a16:creationId xmlns:a16="http://schemas.microsoft.com/office/drawing/2014/main" id="{2ECB9DB5-B766-4AF4-BA36-A26089DBF6FB}"/>
              </a:ext>
            </a:extLst>
          </p:cNvPr>
          <p:cNvSpPr/>
          <p:nvPr/>
        </p:nvSpPr>
        <p:spPr>
          <a:xfrm flipV="1">
            <a:off x="12815103" y="77916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2057400" y="428625"/>
            <a:ext cx="669965" cy="237887"/>
          </a:xfrm>
          <a:prstGeom prst="roundRect">
            <a:avLst>
              <a:gd name="adj" fmla="val 6727"/>
            </a:avLst>
          </a:prstGeom>
          <a:noFill/>
          <a:ln w="7620">
            <a:solidFill>
              <a:srgbClr val="325F7B"/>
            </a:solidFill>
            <a:prstDash val="solid"/>
          </a:ln>
        </p:spPr>
      </p:sp>
      <p:sp>
        <p:nvSpPr>
          <p:cNvPr id="3" name="Text 1"/>
          <p:cNvSpPr/>
          <p:nvPr/>
        </p:nvSpPr>
        <p:spPr>
          <a:xfrm>
            <a:off x="2145030" y="476250"/>
            <a:ext cx="494705" cy="142637"/>
          </a:xfrm>
          <a:prstGeom prst="rect">
            <a:avLst/>
          </a:prstGeom>
          <a:noFill/>
          <a:ln/>
        </p:spPr>
        <p:txBody>
          <a:bodyPr wrap="none" lIns="0" tIns="0" rIns="0" bIns="0" rtlCol="0" anchor="t"/>
          <a:lstStyle/>
          <a:p>
            <a:pPr marL="0" indent="0" algn="l">
              <a:lnSpc>
                <a:spcPts val="1100"/>
              </a:lnSpc>
              <a:buNone/>
            </a:pPr>
            <a:r>
              <a:rPr lang="en-US" sz="900" b="1" dirty="0">
                <a:solidFill>
                  <a:srgbClr val="325F7B"/>
                </a:solidFill>
                <a:latin typeface="Source Sans 3" pitchFamily="34" charset="0"/>
                <a:ea typeface="Source Sans 3" pitchFamily="34" charset="-122"/>
                <a:cs typeface="Source Sans 3" pitchFamily="34" charset="-120"/>
              </a:rPr>
              <a:t>CHAPTER 4</a:t>
            </a:r>
            <a:endParaRPr lang="en-US" sz="900" b="1" dirty="0"/>
          </a:p>
        </p:txBody>
      </p:sp>
      <p:sp>
        <p:nvSpPr>
          <p:cNvPr id="4" name="Text 2"/>
          <p:cNvSpPr/>
          <p:nvPr/>
        </p:nvSpPr>
        <p:spPr>
          <a:xfrm>
            <a:off x="2057400" y="702350"/>
            <a:ext cx="4718328" cy="416719"/>
          </a:xfrm>
          <a:prstGeom prst="rect">
            <a:avLst/>
          </a:prstGeom>
          <a:noFill/>
          <a:ln/>
        </p:spPr>
        <p:txBody>
          <a:bodyPr wrap="none" lIns="0" tIns="0" rIns="0" bIns="0" rtlCol="0" anchor="t"/>
          <a:lstStyle/>
          <a:p>
            <a:pPr marL="0" indent="0" algn="l">
              <a:lnSpc>
                <a:spcPts val="3250"/>
              </a:lnSpc>
              <a:buNone/>
            </a:pPr>
            <a:r>
              <a:rPr lang="en-US" sz="2800" b="1" dirty="0">
                <a:solidFill>
                  <a:srgbClr val="124E73"/>
                </a:solidFill>
                <a:latin typeface="MuseoModerno Medium" pitchFamily="34" charset="0"/>
                <a:ea typeface="MuseoModerno Medium" pitchFamily="34" charset="-122"/>
                <a:cs typeface="MuseoModerno Medium" pitchFamily="34" charset="-120"/>
              </a:rPr>
              <a:t>System Architecture &amp; Design</a:t>
            </a:r>
            <a:endParaRPr lang="en-US" sz="2800" b="1" dirty="0"/>
          </a:p>
        </p:txBody>
      </p:sp>
      <p:pic>
        <p:nvPicPr>
          <p:cNvPr id="5" name="Image 0" descr="preencoded.png"/>
          <p:cNvPicPr>
            <a:picLocks noChangeAspect="1"/>
          </p:cNvPicPr>
          <p:nvPr/>
        </p:nvPicPr>
        <p:blipFill>
          <a:blip r:embed="rId3"/>
          <a:stretch>
            <a:fillRect/>
          </a:stretch>
        </p:blipFill>
        <p:spPr>
          <a:xfrm>
            <a:off x="2057400" y="1253371"/>
            <a:ext cx="10515600" cy="4732020"/>
          </a:xfrm>
          <a:prstGeom prst="rect">
            <a:avLst/>
          </a:prstGeom>
        </p:spPr>
      </p:pic>
      <p:sp>
        <p:nvSpPr>
          <p:cNvPr id="6" name="Text 3"/>
          <p:cNvSpPr/>
          <p:nvPr/>
        </p:nvSpPr>
        <p:spPr>
          <a:xfrm>
            <a:off x="3641375" y="1582299"/>
            <a:ext cx="1840230" cy="284376"/>
          </a:xfrm>
          <a:prstGeom prst="rect">
            <a:avLst/>
          </a:prstGeom>
          <a:noFill/>
          <a:ln/>
        </p:spPr>
        <p:txBody>
          <a:bodyPr wrap="none" lIns="0" tIns="0" rIns="0" bIns="0" rtlCol="0" anchor="t"/>
          <a:lstStyle/>
          <a:p>
            <a:pPr marL="0" indent="0" algn="ctr">
              <a:lnSpc>
                <a:spcPts val="2200"/>
              </a:lnSpc>
              <a:buNone/>
            </a:pPr>
            <a:r>
              <a:rPr lang="en-US" b="1" dirty="0">
                <a:solidFill>
                  <a:srgbClr val="2B4150"/>
                </a:solidFill>
                <a:latin typeface="MuseoModerno Medium" pitchFamily="34" charset="0"/>
                <a:ea typeface="MuseoModerno Medium" pitchFamily="34" charset="-122"/>
                <a:cs typeface="MuseoModerno Medium" pitchFamily="34" charset="-120"/>
              </a:rPr>
              <a:t>Data Collection</a:t>
            </a:r>
            <a:endParaRPr lang="en-US" b="1" dirty="0"/>
          </a:p>
        </p:txBody>
      </p:sp>
      <p:sp>
        <p:nvSpPr>
          <p:cNvPr id="7" name="Text 4"/>
          <p:cNvSpPr/>
          <p:nvPr/>
        </p:nvSpPr>
        <p:spPr>
          <a:xfrm>
            <a:off x="3641375" y="1947565"/>
            <a:ext cx="1840230" cy="190058"/>
          </a:xfrm>
          <a:prstGeom prst="rect">
            <a:avLst/>
          </a:prstGeom>
          <a:noFill/>
          <a:ln/>
        </p:spPr>
        <p:txBody>
          <a:bodyPr wrap="none" lIns="0" tIns="0" rIns="0" bIns="0" rtlCol="0" anchor="t"/>
          <a:lstStyle/>
          <a:p>
            <a:pPr marL="0" indent="0" algn="ctr">
              <a:lnSpc>
                <a:spcPts val="1450"/>
              </a:lnSpc>
              <a:buNone/>
            </a:pPr>
            <a:r>
              <a:rPr lang="en-US" sz="1600" b="1" dirty="0">
                <a:solidFill>
                  <a:srgbClr val="2B4150"/>
                </a:solidFill>
                <a:latin typeface="Source Sans 3" pitchFamily="34" charset="0"/>
                <a:ea typeface="Source Sans 3" pitchFamily="34" charset="-122"/>
                <a:cs typeface="Source Sans 3" pitchFamily="34" charset="-120"/>
              </a:rPr>
              <a:t>Ingest raw user datasets</a:t>
            </a:r>
            <a:endParaRPr lang="en-US" sz="1600" b="1" dirty="0"/>
          </a:p>
        </p:txBody>
      </p:sp>
      <p:pic>
        <p:nvPicPr>
          <p:cNvPr id="8"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4362743" y="2739079"/>
            <a:ext cx="407606" cy="407606"/>
          </a:xfrm>
          <a:prstGeom prst="rect">
            <a:avLst/>
          </a:prstGeom>
        </p:spPr>
      </p:pic>
      <p:sp>
        <p:nvSpPr>
          <p:cNvPr id="9" name="Text 5"/>
          <p:cNvSpPr/>
          <p:nvPr/>
        </p:nvSpPr>
        <p:spPr>
          <a:xfrm>
            <a:off x="5461383" y="5036364"/>
            <a:ext cx="1850341" cy="284376"/>
          </a:xfrm>
          <a:prstGeom prst="rect">
            <a:avLst/>
          </a:prstGeom>
          <a:noFill/>
          <a:ln/>
        </p:spPr>
        <p:txBody>
          <a:bodyPr wrap="none" lIns="0" tIns="0" rIns="0" bIns="0" rtlCol="0" anchor="t"/>
          <a:lstStyle/>
          <a:p>
            <a:pPr marL="0" indent="0" algn="ctr">
              <a:lnSpc>
                <a:spcPts val="2200"/>
              </a:lnSpc>
              <a:buNone/>
            </a:pPr>
            <a:r>
              <a:rPr lang="en-US" b="1" dirty="0">
                <a:solidFill>
                  <a:srgbClr val="2B4150"/>
                </a:solidFill>
                <a:latin typeface="MuseoModerno Medium" pitchFamily="34" charset="0"/>
                <a:ea typeface="MuseoModerno Medium" pitchFamily="34" charset="-122"/>
                <a:cs typeface="MuseoModerno Medium" pitchFamily="34" charset="-120"/>
              </a:rPr>
              <a:t>Preprocessing</a:t>
            </a:r>
            <a:endParaRPr lang="en-US" b="1" dirty="0"/>
          </a:p>
        </p:txBody>
      </p:sp>
      <p:sp>
        <p:nvSpPr>
          <p:cNvPr id="10" name="Text 6"/>
          <p:cNvSpPr/>
          <p:nvPr/>
        </p:nvSpPr>
        <p:spPr>
          <a:xfrm>
            <a:off x="5461383" y="5401630"/>
            <a:ext cx="1850341" cy="380116"/>
          </a:xfrm>
          <a:prstGeom prst="rect">
            <a:avLst/>
          </a:prstGeom>
          <a:noFill/>
          <a:ln/>
        </p:spPr>
        <p:txBody>
          <a:bodyPr wrap="square" lIns="0" tIns="0" rIns="0" bIns="0" rtlCol="0" anchor="t"/>
          <a:lstStyle/>
          <a:p>
            <a:pPr marL="0" indent="0" algn="ctr">
              <a:lnSpc>
                <a:spcPts val="1450"/>
              </a:lnSpc>
              <a:buNone/>
            </a:pPr>
            <a:r>
              <a:rPr lang="en-US" sz="1600" b="1" dirty="0">
                <a:solidFill>
                  <a:srgbClr val="2B4150"/>
                </a:solidFill>
                <a:latin typeface="Source Sans 3" pitchFamily="34" charset="0"/>
                <a:ea typeface="Source Sans 3" pitchFamily="34" charset="-122"/>
                <a:cs typeface="Source Sans 3" pitchFamily="34" charset="-120"/>
              </a:rPr>
              <a:t>Clean and format data streams</a:t>
            </a:r>
            <a:endParaRPr lang="en-US" sz="1600" b="1" dirty="0"/>
          </a:p>
        </p:txBody>
      </p:sp>
      <p:pic>
        <p:nvPicPr>
          <p:cNvPr id="11" name="Image 2" descr="preencoded.png"/>
          <p:cNvPicPr>
            <a:picLocks noChangeAspect="1"/>
          </p:cNvPicPr>
          <p:nvPr/>
        </p:nvPicPr>
        <p:blipFill>
          <a:blip r:embed="rId4">
            <a:extLst>
              <a:ext uri="{96DAC541-7B7A-43D3-8B79-37D633B846F1}">
                <asvg:svgBlip xmlns:asvg="http://schemas.microsoft.com/office/drawing/2016/SVG/main" r:embed="rId6"/>
              </a:ext>
            </a:extLst>
          </a:blip>
          <a:stretch>
            <a:fillRect/>
          </a:stretch>
        </p:blipFill>
        <p:spPr>
          <a:xfrm>
            <a:off x="6182751" y="4225418"/>
            <a:ext cx="407606" cy="407606"/>
          </a:xfrm>
          <a:prstGeom prst="rect">
            <a:avLst/>
          </a:prstGeom>
        </p:spPr>
      </p:pic>
      <p:sp>
        <p:nvSpPr>
          <p:cNvPr id="12" name="Text 7"/>
          <p:cNvSpPr/>
          <p:nvPr/>
        </p:nvSpPr>
        <p:spPr>
          <a:xfrm>
            <a:off x="7261168" y="1451960"/>
            <a:ext cx="1840230" cy="284376"/>
          </a:xfrm>
          <a:prstGeom prst="rect">
            <a:avLst/>
          </a:prstGeom>
          <a:noFill/>
          <a:ln/>
        </p:spPr>
        <p:txBody>
          <a:bodyPr wrap="none" lIns="0" tIns="0" rIns="0" bIns="0" rtlCol="0" anchor="t"/>
          <a:lstStyle/>
          <a:p>
            <a:pPr marL="0" indent="0" algn="ctr">
              <a:lnSpc>
                <a:spcPts val="2200"/>
              </a:lnSpc>
              <a:buNone/>
            </a:pPr>
            <a:r>
              <a:rPr lang="en-US" b="1" dirty="0">
                <a:solidFill>
                  <a:srgbClr val="2B4150"/>
                </a:solidFill>
                <a:latin typeface="MuseoModerno Medium" pitchFamily="34" charset="0"/>
                <a:ea typeface="MuseoModerno Medium" pitchFamily="34" charset="-122"/>
                <a:cs typeface="MuseoModerno Medium" pitchFamily="34" charset="-120"/>
              </a:rPr>
              <a:t>Volatility Calc</a:t>
            </a:r>
            <a:endParaRPr lang="en-US" b="1" dirty="0"/>
          </a:p>
        </p:txBody>
      </p:sp>
      <p:sp>
        <p:nvSpPr>
          <p:cNvPr id="13" name="Text 8"/>
          <p:cNvSpPr/>
          <p:nvPr/>
        </p:nvSpPr>
        <p:spPr>
          <a:xfrm>
            <a:off x="7261168" y="1817226"/>
            <a:ext cx="1840230" cy="380116"/>
          </a:xfrm>
          <a:prstGeom prst="rect">
            <a:avLst/>
          </a:prstGeom>
          <a:noFill/>
          <a:ln/>
        </p:spPr>
        <p:txBody>
          <a:bodyPr wrap="square" lIns="0" tIns="0" rIns="0" bIns="0" rtlCol="0" anchor="t"/>
          <a:lstStyle/>
          <a:p>
            <a:pPr marL="0" indent="0" algn="ctr">
              <a:lnSpc>
                <a:spcPts val="1450"/>
              </a:lnSpc>
              <a:buNone/>
            </a:pPr>
            <a:r>
              <a:rPr lang="en-US" sz="1600" b="1" dirty="0">
                <a:solidFill>
                  <a:srgbClr val="2B4150"/>
                </a:solidFill>
                <a:latin typeface="Source Sans 3" pitchFamily="34" charset="0"/>
                <a:ea typeface="Source Sans 3" pitchFamily="34" charset="-122"/>
                <a:cs typeface="Source Sans 3" pitchFamily="34" charset="-120"/>
              </a:rPr>
              <a:t>Compute volatility metrics</a:t>
            </a:r>
            <a:endParaRPr lang="en-US" sz="1600" b="1" dirty="0"/>
          </a:p>
        </p:txBody>
      </p:sp>
      <p:pic>
        <p:nvPicPr>
          <p:cNvPr id="14" name="Image 3" descr="preencoded.png"/>
          <p:cNvPicPr>
            <a:picLocks noChangeAspect="1"/>
          </p:cNvPicPr>
          <p:nvPr/>
        </p:nvPicPr>
        <p:blipFill>
          <a:blip r:embed="rId4">
            <a:extLst>
              <a:ext uri="{96DAC541-7B7A-43D3-8B79-37D633B846F1}">
                <asvg:svgBlip xmlns:asvg="http://schemas.microsoft.com/office/drawing/2016/SVG/main" r:embed="rId7"/>
              </a:ext>
            </a:extLst>
          </a:blip>
          <a:stretch>
            <a:fillRect/>
          </a:stretch>
        </p:blipFill>
        <p:spPr>
          <a:xfrm>
            <a:off x="8012869" y="2698634"/>
            <a:ext cx="407607" cy="407606"/>
          </a:xfrm>
          <a:prstGeom prst="rect">
            <a:avLst/>
          </a:prstGeom>
        </p:spPr>
      </p:pic>
      <p:sp>
        <p:nvSpPr>
          <p:cNvPr id="15" name="Text 9"/>
          <p:cNvSpPr/>
          <p:nvPr/>
        </p:nvSpPr>
        <p:spPr>
          <a:xfrm>
            <a:off x="9081176" y="4894176"/>
            <a:ext cx="1840230" cy="568753"/>
          </a:xfrm>
          <a:prstGeom prst="rect">
            <a:avLst/>
          </a:prstGeom>
          <a:noFill/>
          <a:ln/>
        </p:spPr>
        <p:txBody>
          <a:bodyPr wrap="square" lIns="0" tIns="0" rIns="0" bIns="0" rtlCol="0" anchor="t"/>
          <a:lstStyle/>
          <a:p>
            <a:pPr marL="0" indent="0" algn="ctr">
              <a:lnSpc>
                <a:spcPts val="2200"/>
              </a:lnSpc>
              <a:buNone/>
            </a:pPr>
            <a:r>
              <a:rPr lang="en-US" b="1" dirty="0">
                <a:solidFill>
                  <a:srgbClr val="2B4150"/>
                </a:solidFill>
                <a:latin typeface="MuseoModerno Medium" pitchFamily="34" charset="0"/>
                <a:ea typeface="MuseoModerno Medium" pitchFamily="34" charset="-122"/>
                <a:cs typeface="MuseoModerno Medium" pitchFamily="34" charset="-120"/>
              </a:rPr>
              <a:t>Analysis &amp; Detection</a:t>
            </a:r>
            <a:endParaRPr lang="en-US" b="1" dirty="0"/>
          </a:p>
        </p:txBody>
      </p:sp>
      <p:sp>
        <p:nvSpPr>
          <p:cNvPr id="16" name="Text 10"/>
          <p:cNvSpPr/>
          <p:nvPr/>
        </p:nvSpPr>
        <p:spPr>
          <a:xfrm>
            <a:off x="9081176" y="5543818"/>
            <a:ext cx="1840230" cy="380116"/>
          </a:xfrm>
          <a:prstGeom prst="rect">
            <a:avLst/>
          </a:prstGeom>
          <a:noFill/>
          <a:ln/>
        </p:spPr>
        <p:txBody>
          <a:bodyPr wrap="square" lIns="0" tIns="0" rIns="0" bIns="0" rtlCol="0" anchor="t"/>
          <a:lstStyle/>
          <a:p>
            <a:pPr marL="0" indent="0" algn="ctr">
              <a:lnSpc>
                <a:spcPts val="1450"/>
              </a:lnSpc>
              <a:buNone/>
            </a:pPr>
            <a:r>
              <a:rPr lang="en-US" sz="1600" b="1" dirty="0">
                <a:solidFill>
                  <a:srgbClr val="2B4150"/>
                </a:solidFill>
                <a:latin typeface="Source Sans 3" pitchFamily="34" charset="0"/>
                <a:ea typeface="Source Sans 3" pitchFamily="34" charset="-122"/>
                <a:cs typeface="Source Sans 3" pitchFamily="34" charset="-120"/>
              </a:rPr>
              <a:t>Identify anomalies and patterns</a:t>
            </a:r>
            <a:endParaRPr lang="en-US" sz="1600" b="1" dirty="0"/>
          </a:p>
        </p:txBody>
      </p:sp>
      <p:pic>
        <p:nvPicPr>
          <p:cNvPr id="17" name="Image 4" descr="preencoded.png"/>
          <p:cNvPicPr>
            <a:picLocks noChangeAspect="1"/>
          </p:cNvPicPr>
          <p:nvPr/>
        </p:nvPicPr>
        <p:blipFill>
          <a:blip r:embed="rId4">
            <a:extLst>
              <a:ext uri="{96DAC541-7B7A-43D3-8B79-37D633B846F1}">
                <asvg:svgBlip xmlns:asvg="http://schemas.microsoft.com/office/drawing/2016/SVG/main" r:embed="rId8"/>
              </a:ext>
            </a:extLst>
          </a:blip>
          <a:stretch>
            <a:fillRect/>
          </a:stretch>
        </p:blipFill>
        <p:spPr>
          <a:xfrm>
            <a:off x="9802544" y="4225418"/>
            <a:ext cx="407606" cy="407606"/>
          </a:xfrm>
          <a:prstGeom prst="rect">
            <a:avLst/>
          </a:prstGeom>
        </p:spPr>
      </p:pic>
      <p:sp>
        <p:nvSpPr>
          <p:cNvPr id="18" name="Text 11"/>
          <p:cNvSpPr/>
          <p:nvPr/>
        </p:nvSpPr>
        <p:spPr>
          <a:xfrm>
            <a:off x="2057400" y="6086118"/>
            <a:ext cx="10515600" cy="178356"/>
          </a:xfrm>
          <a:prstGeom prst="rect">
            <a:avLst/>
          </a:prstGeom>
          <a:noFill/>
          <a:ln/>
        </p:spPr>
        <p:txBody>
          <a:bodyPr wrap="none" lIns="0" tIns="0" rIns="0" bIns="0" rtlCol="0" anchor="t"/>
          <a:lstStyle/>
          <a:p>
            <a:pPr marL="0" indent="0" algn="just">
              <a:lnSpc>
                <a:spcPts val="1400"/>
              </a:lnSpc>
              <a:buNone/>
            </a:pPr>
            <a:r>
              <a:rPr lang="en-US" sz="1400" b="1" dirty="0">
                <a:solidFill>
                  <a:srgbClr val="2B4150"/>
                </a:solidFill>
                <a:latin typeface="Source Sans 3" pitchFamily="34" charset="0"/>
                <a:ea typeface="Source Sans 3" pitchFamily="34" charset="-122"/>
                <a:cs typeface="Source Sans 3" pitchFamily="34" charset="-120"/>
              </a:rPr>
              <a:t>The modular architecture ensures smooth data flow between components and allows future enhancements such as real-time data integration.</a:t>
            </a:r>
            <a:endParaRPr lang="en-US" sz="1400" b="1" dirty="0"/>
          </a:p>
        </p:txBody>
      </p:sp>
      <p:sp>
        <p:nvSpPr>
          <p:cNvPr id="19" name="Text 12"/>
          <p:cNvSpPr/>
          <p:nvPr/>
        </p:nvSpPr>
        <p:spPr>
          <a:xfrm>
            <a:off x="1974500" y="6558914"/>
            <a:ext cx="1666875" cy="208359"/>
          </a:xfrm>
          <a:prstGeom prst="rect">
            <a:avLst/>
          </a:prstGeom>
          <a:noFill/>
          <a:ln/>
        </p:spPr>
        <p:txBody>
          <a:bodyPr wrap="none" lIns="0" tIns="0" rIns="0" bIns="0" rtlCol="0" anchor="t"/>
          <a:lstStyle/>
          <a:p>
            <a:pPr marL="0" indent="0" algn="l">
              <a:lnSpc>
                <a:spcPts val="1600"/>
              </a:lnSpc>
              <a:buNone/>
            </a:pPr>
            <a:r>
              <a:rPr lang="en-US" sz="1600" b="1" dirty="0">
                <a:solidFill>
                  <a:srgbClr val="124E73"/>
                </a:solidFill>
                <a:latin typeface="MuseoModerno Medium" pitchFamily="34" charset="0"/>
                <a:ea typeface="MuseoModerno Medium" pitchFamily="34" charset="-122"/>
                <a:cs typeface="MuseoModerno Medium" pitchFamily="34" charset="-120"/>
              </a:rPr>
              <a:t>Data Flow (Level 1)</a:t>
            </a:r>
            <a:endParaRPr lang="en-US" sz="1600" b="1" dirty="0"/>
          </a:p>
        </p:txBody>
      </p:sp>
      <p:sp>
        <p:nvSpPr>
          <p:cNvPr id="20" name="Text 13"/>
          <p:cNvSpPr/>
          <p:nvPr/>
        </p:nvSpPr>
        <p:spPr>
          <a:xfrm>
            <a:off x="1868983" y="6963530"/>
            <a:ext cx="5095161" cy="1017032"/>
          </a:xfrm>
          <a:prstGeom prst="rect">
            <a:avLst/>
          </a:prstGeom>
          <a:noFill/>
          <a:ln/>
        </p:spPr>
        <p:txBody>
          <a:bodyPr wrap="square" lIns="0" tIns="0" rIns="0" bIns="0" rtlCol="0" anchor="t"/>
          <a:lstStyle/>
          <a:p>
            <a:pPr marL="342900" indent="-342900" algn="just">
              <a:lnSpc>
                <a:spcPts val="1400"/>
              </a:lnSpc>
              <a:buSzPct val="100000"/>
              <a:buFont typeface="+mj-lt"/>
              <a:buAutoNum type="arabicPeriod"/>
            </a:pPr>
            <a:r>
              <a:rPr lang="en-US" sz="1600" dirty="0">
                <a:solidFill>
                  <a:srgbClr val="2B4150"/>
                </a:solidFill>
                <a:latin typeface="Source Sans 3" pitchFamily="34" charset="0"/>
                <a:ea typeface="Source Sans 3" pitchFamily="34" charset="-122"/>
                <a:cs typeface="Source Sans 3" pitchFamily="34" charset="-120"/>
              </a:rPr>
              <a:t>User uploads or selects dataset</a:t>
            </a:r>
            <a:endParaRPr lang="en-US" sz="1600" dirty="0"/>
          </a:p>
          <a:p>
            <a:pPr marL="342900" indent="-342900" algn="just">
              <a:lnSpc>
                <a:spcPts val="1400"/>
              </a:lnSpc>
              <a:buSzPct val="100000"/>
              <a:buFont typeface="+mj-lt"/>
              <a:buAutoNum type="arabicPeriod" startAt="2"/>
            </a:pPr>
            <a:r>
              <a:rPr lang="en-US" sz="1600" dirty="0">
                <a:solidFill>
                  <a:srgbClr val="2B4150"/>
                </a:solidFill>
                <a:latin typeface="Source Sans 3" pitchFamily="34" charset="0"/>
                <a:ea typeface="Source Sans 3" pitchFamily="34" charset="-122"/>
                <a:cs typeface="Source Sans 3" pitchFamily="34" charset="-120"/>
              </a:rPr>
              <a:t>Data cleaning and formatting</a:t>
            </a:r>
            <a:endParaRPr lang="en-US" sz="1600" dirty="0"/>
          </a:p>
          <a:p>
            <a:pPr marL="342900" indent="-342900" algn="just">
              <a:lnSpc>
                <a:spcPts val="1400"/>
              </a:lnSpc>
              <a:buSzPct val="100000"/>
              <a:buFont typeface="+mj-lt"/>
              <a:buAutoNum type="arabicPeriod" startAt="3"/>
            </a:pPr>
            <a:r>
              <a:rPr lang="en-US" sz="1600" dirty="0">
                <a:solidFill>
                  <a:srgbClr val="2B4150"/>
                </a:solidFill>
                <a:latin typeface="Source Sans 3" pitchFamily="34" charset="0"/>
                <a:ea typeface="Source Sans 3" pitchFamily="34" charset="-122"/>
                <a:cs typeface="Source Sans 3" pitchFamily="34" charset="-120"/>
              </a:rPr>
              <a:t>Apply indicators and compute volatility</a:t>
            </a:r>
            <a:endParaRPr lang="en-US" sz="1600" dirty="0"/>
          </a:p>
          <a:p>
            <a:pPr marL="342900" indent="-342900" algn="just">
              <a:lnSpc>
                <a:spcPts val="1400"/>
              </a:lnSpc>
              <a:buSzPct val="100000"/>
              <a:buFont typeface="+mj-lt"/>
              <a:buAutoNum type="arabicPeriod" startAt="4"/>
            </a:pPr>
            <a:r>
              <a:rPr lang="en-US" sz="1600" dirty="0">
                <a:solidFill>
                  <a:srgbClr val="2B4150"/>
                </a:solidFill>
                <a:latin typeface="Source Sans 3" pitchFamily="34" charset="0"/>
                <a:ea typeface="Source Sans 3" pitchFamily="34" charset="-122"/>
                <a:cs typeface="Source Sans 3" pitchFamily="34" charset="-120"/>
              </a:rPr>
              <a:t>Detect volatility patterns</a:t>
            </a:r>
            <a:endParaRPr lang="en-US" sz="1600" dirty="0"/>
          </a:p>
          <a:p>
            <a:pPr marL="342900" indent="-342900" algn="just">
              <a:lnSpc>
                <a:spcPts val="1400"/>
              </a:lnSpc>
              <a:buSzPct val="100000"/>
              <a:buFont typeface="+mj-lt"/>
              <a:buAutoNum type="arabicPeriod" startAt="5"/>
            </a:pPr>
            <a:r>
              <a:rPr lang="en-US" sz="1600" dirty="0">
                <a:solidFill>
                  <a:srgbClr val="2B4150"/>
                </a:solidFill>
                <a:latin typeface="Source Sans 3" pitchFamily="34" charset="0"/>
                <a:ea typeface="Source Sans 3" pitchFamily="34" charset="-122"/>
                <a:cs typeface="Source Sans 3" pitchFamily="34" charset="-120"/>
              </a:rPr>
              <a:t>Display results graphically or textually</a:t>
            </a:r>
            <a:endParaRPr lang="en-US" sz="1600" dirty="0"/>
          </a:p>
        </p:txBody>
      </p:sp>
      <p:sp>
        <p:nvSpPr>
          <p:cNvPr id="21" name="Text 14"/>
          <p:cNvSpPr/>
          <p:nvPr/>
        </p:nvSpPr>
        <p:spPr>
          <a:xfrm>
            <a:off x="7485459" y="6454735"/>
            <a:ext cx="1666875" cy="208359"/>
          </a:xfrm>
          <a:prstGeom prst="rect">
            <a:avLst/>
          </a:prstGeom>
          <a:noFill/>
          <a:ln/>
        </p:spPr>
        <p:txBody>
          <a:bodyPr wrap="none" lIns="0" tIns="0" rIns="0" bIns="0" rtlCol="0" anchor="t"/>
          <a:lstStyle/>
          <a:p>
            <a:pPr marL="0" indent="0" algn="l">
              <a:lnSpc>
                <a:spcPts val="1600"/>
              </a:lnSpc>
              <a:buNone/>
            </a:pPr>
            <a:r>
              <a:rPr lang="en-US" sz="1600" b="1" dirty="0">
                <a:solidFill>
                  <a:srgbClr val="124E73"/>
                </a:solidFill>
                <a:latin typeface="MuseoModerno Medium" pitchFamily="34" charset="0"/>
                <a:ea typeface="MuseoModerno Medium" pitchFamily="34" charset="-122"/>
                <a:cs typeface="MuseoModerno Medium" pitchFamily="34" charset="-120"/>
              </a:rPr>
              <a:t>UML Diagrams</a:t>
            </a:r>
            <a:endParaRPr lang="en-US" sz="1600" b="1" dirty="0"/>
          </a:p>
        </p:txBody>
      </p:sp>
      <p:sp>
        <p:nvSpPr>
          <p:cNvPr id="22" name="Text 15"/>
          <p:cNvSpPr/>
          <p:nvPr/>
        </p:nvSpPr>
        <p:spPr>
          <a:xfrm>
            <a:off x="7477839" y="6874752"/>
            <a:ext cx="5095161" cy="597694"/>
          </a:xfrm>
          <a:prstGeom prst="rect">
            <a:avLst/>
          </a:prstGeom>
          <a:noFill/>
          <a:ln/>
        </p:spPr>
        <p:txBody>
          <a:bodyPr wrap="square" lIns="0" tIns="0" rIns="0" bIns="0" rtlCol="0" anchor="t"/>
          <a:lstStyle/>
          <a:p>
            <a:pPr marL="342900" indent="-342900" algn="l">
              <a:lnSpc>
                <a:spcPts val="1400"/>
              </a:lnSpc>
              <a:buSzPct val="100000"/>
              <a:buChar char="•"/>
            </a:pPr>
            <a:r>
              <a:rPr lang="en-US" sz="1400" dirty="0">
                <a:solidFill>
                  <a:srgbClr val="2B4150"/>
                </a:solidFill>
                <a:latin typeface="Source Sans 3" pitchFamily="34" charset="0"/>
                <a:ea typeface="Source Sans 3" pitchFamily="34" charset="-122"/>
                <a:cs typeface="Source Sans 3" pitchFamily="34" charset="-120"/>
              </a:rPr>
              <a:t>Use Case: User uploads dataset, processes data, analyzes volatility, views results</a:t>
            </a:r>
            <a:endParaRPr lang="en-US" sz="1400" dirty="0"/>
          </a:p>
          <a:p>
            <a:pPr marL="342900" indent="-342900" algn="l">
              <a:lnSpc>
                <a:spcPts val="1400"/>
              </a:lnSpc>
              <a:buSzPct val="100000"/>
              <a:buChar char="•"/>
            </a:pPr>
            <a:r>
              <a:rPr lang="en-US" sz="1400" dirty="0">
                <a:solidFill>
                  <a:srgbClr val="2B4150"/>
                </a:solidFill>
                <a:latin typeface="Source Sans 3" pitchFamily="34" charset="0"/>
                <a:ea typeface="Source Sans 3" pitchFamily="34" charset="-122"/>
                <a:cs typeface="Source Sans 3" pitchFamily="34" charset="-120"/>
              </a:rPr>
              <a:t>Class Diagram: Data Handler, Volatility Calculator, Analyzer, Visualizer</a:t>
            </a:r>
            <a:endParaRPr lang="en-US" sz="1400" dirty="0"/>
          </a:p>
          <a:p>
            <a:pPr marL="342900" indent="-342900" algn="l">
              <a:lnSpc>
                <a:spcPts val="1400"/>
              </a:lnSpc>
              <a:buSzPct val="100000"/>
              <a:buChar char="•"/>
            </a:pPr>
            <a:r>
              <a:rPr lang="en-US" sz="1400" dirty="0">
                <a:solidFill>
                  <a:srgbClr val="2B4150"/>
                </a:solidFill>
                <a:latin typeface="Source Sans 3" pitchFamily="34" charset="0"/>
                <a:ea typeface="Source Sans 3" pitchFamily="34" charset="-122"/>
                <a:cs typeface="Source Sans 3" pitchFamily="34" charset="-120"/>
              </a:rPr>
              <a:t>Sequence: User uploads → System preprocesses → Calculates → Analyzes → Displays</a:t>
            </a:r>
            <a:endParaRPr lang="en-US" sz="1400" dirty="0"/>
          </a:p>
        </p:txBody>
      </p:sp>
      <p:sp>
        <p:nvSpPr>
          <p:cNvPr id="23" name="Rectangle 22">
            <a:extLst>
              <a:ext uri="{FF2B5EF4-FFF2-40B4-BE49-F238E27FC236}">
                <a16:creationId xmlns:a16="http://schemas.microsoft.com/office/drawing/2014/main" id="{239BAD2D-E435-4550-923E-A4017F1E6605}"/>
              </a:ext>
            </a:extLst>
          </p:cNvPr>
          <p:cNvSpPr/>
          <p:nvPr/>
        </p:nvSpPr>
        <p:spPr>
          <a:xfrm flipV="1">
            <a:off x="12662703" y="76392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731758" y="570309"/>
            <a:ext cx="897612" cy="334685"/>
          </a:xfrm>
          <a:prstGeom prst="roundRect">
            <a:avLst>
              <a:gd name="adj" fmla="val 6560"/>
            </a:avLst>
          </a:prstGeom>
          <a:solidFill>
            <a:srgbClr val="DBE8F0"/>
          </a:solidFill>
          <a:ln/>
        </p:spPr>
      </p:sp>
      <p:sp>
        <p:nvSpPr>
          <p:cNvPr id="3" name="Text 1"/>
          <p:cNvSpPr/>
          <p:nvPr/>
        </p:nvSpPr>
        <p:spPr>
          <a:xfrm>
            <a:off x="841534" y="625197"/>
            <a:ext cx="678061" cy="224909"/>
          </a:xfrm>
          <a:prstGeom prst="rect">
            <a:avLst/>
          </a:prstGeom>
          <a:noFill/>
          <a:ln/>
        </p:spPr>
        <p:txBody>
          <a:bodyPr wrap="none" lIns="0" tIns="0" rIns="0" bIns="0" rtlCol="0" anchor="t"/>
          <a:lstStyle/>
          <a:p>
            <a:pPr marL="0" indent="0" algn="l">
              <a:lnSpc>
                <a:spcPts val="1750"/>
              </a:lnSpc>
              <a:buNone/>
            </a:pPr>
            <a:r>
              <a:rPr lang="en-US" sz="1200" b="1" dirty="0">
                <a:solidFill>
                  <a:srgbClr val="2B4150"/>
                </a:solidFill>
                <a:latin typeface="Source Sans 3" pitchFamily="34" charset="0"/>
                <a:ea typeface="Source Sans 3" pitchFamily="34" charset="-122"/>
                <a:cs typeface="Source Sans 3" pitchFamily="34" charset="-120"/>
              </a:rPr>
              <a:t>CHAPTER 5</a:t>
            </a:r>
            <a:endParaRPr lang="en-US" sz="1200" b="1" dirty="0"/>
          </a:p>
        </p:txBody>
      </p:sp>
      <p:sp>
        <p:nvSpPr>
          <p:cNvPr id="4" name="Text 2"/>
          <p:cNvSpPr/>
          <p:nvPr/>
        </p:nvSpPr>
        <p:spPr>
          <a:xfrm>
            <a:off x="731758" y="972383"/>
            <a:ext cx="5274350" cy="571738"/>
          </a:xfrm>
          <a:prstGeom prst="rect">
            <a:avLst/>
          </a:prstGeom>
          <a:noFill/>
          <a:ln/>
        </p:spPr>
        <p:txBody>
          <a:bodyPr wrap="none" lIns="0" tIns="0" rIns="0" bIns="0" rtlCol="0" anchor="t"/>
          <a:lstStyle/>
          <a:p>
            <a:pPr marL="0" indent="0" algn="l">
              <a:lnSpc>
                <a:spcPts val="4500"/>
              </a:lnSpc>
              <a:buNone/>
            </a:pPr>
            <a:r>
              <a:rPr lang="en-US" sz="4000" b="1" dirty="0">
                <a:solidFill>
                  <a:srgbClr val="124E73"/>
                </a:solidFill>
                <a:latin typeface="MuseoModerno Medium" pitchFamily="34" charset="0"/>
                <a:ea typeface="MuseoModerno Medium" pitchFamily="34" charset="-122"/>
                <a:cs typeface="MuseoModerno Medium" pitchFamily="34" charset="-120"/>
              </a:rPr>
              <a:t>Project Implementation</a:t>
            </a:r>
            <a:endParaRPr lang="en-US" sz="4000" b="1" dirty="0"/>
          </a:p>
        </p:txBody>
      </p:sp>
      <p:sp>
        <p:nvSpPr>
          <p:cNvPr id="5" name="Text 3"/>
          <p:cNvSpPr/>
          <p:nvPr/>
        </p:nvSpPr>
        <p:spPr>
          <a:xfrm>
            <a:off x="731758" y="1965722"/>
            <a:ext cx="2287072" cy="285869"/>
          </a:xfrm>
          <a:prstGeom prst="rect">
            <a:avLst/>
          </a:prstGeom>
          <a:noFill/>
          <a:ln/>
        </p:spPr>
        <p:txBody>
          <a:bodyPr wrap="none" lIns="0" tIns="0" rIns="0" bIns="0" rtlCol="0" anchor="t"/>
          <a:lstStyle/>
          <a:p>
            <a:pPr marL="0" indent="0" algn="l">
              <a:lnSpc>
                <a:spcPts val="2250"/>
              </a:lnSpc>
              <a:buNone/>
            </a:pPr>
            <a:r>
              <a:rPr lang="en-US" sz="2000" b="1" dirty="0">
                <a:solidFill>
                  <a:srgbClr val="124E73"/>
                </a:solidFill>
                <a:latin typeface="MuseoModerno Medium" pitchFamily="34" charset="0"/>
                <a:ea typeface="MuseoModerno Medium" pitchFamily="34" charset="-122"/>
                <a:cs typeface="MuseoModerno Medium" pitchFamily="34" charset="-120"/>
              </a:rPr>
              <a:t>Module Overview</a:t>
            </a:r>
            <a:endParaRPr lang="en-US" sz="2000" b="1" dirty="0"/>
          </a:p>
        </p:txBody>
      </p:sp>
      <p:pic>
        <p:nvPicPr>
          <p:cNvPr id="6"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338" y="2446913"/>
            <a:ext cx="274439" cy="274439"/>
          </a:xfrm>
          <a:prstGeom prst="rect">
            <a:avLst/>
          </a:prstGeom>
        </p:spPr>
      </p:pic>
      <p:sp>
        <p:nvSpPr>
          <p:cNvPr id="7" name="Text 4"/>
          <p:cNvSpPr/>
          <p:nvPr/>
        </p:nvSpPr>
        <p:spPr>
          <a:xfrm>
            <a:off x="1326237" y="2441258"/>
            <a:ext cx="2287072" cy="285869"/>
          </a:xfrm>
          <a:prstGeom prst="rect">
            <a:avLst/>
          </a:prstGeom>
          <a:noFill/>
          <a:ln/>
        </p:spPr>
        <p:txBody>
          <a:bodyPr wrap="none" lIns="0" tIns="0" rIns="0" bIns="0" rtlCol="0" anchor="t"/>
          <a:lstStyle/>
          <a:p>
            <a:pPr marL="0" indent="0" algn="l">
              <a:lnSpc>
                <a:spcPts val="2250"/>
              </a:lnSpc>
              <a:buNone/>
            </a:pPr>
            <a:r>
              <a:rPr lang="en-US" sz="2000" b="1" dirty="0">
                <a:solidFill>
                  <a:srgbClr val="2B4150"/>
                </a:solidFill>
                <a:latin typeface="MuseoModerno Medium" pitchFamily="34" charset="0"/>
                <a:ea typeface="MuseoModerno Medium" pitchFamily="34" charset="-122"/>
                <a:cs typeface="MuseoModerno Medium" pitchFamily="34" charset="-120"/>
              </a:rPr>
              <a:t>Data Collection</a:t>
            </a:r>
            <a:endParaRPr lang="en-US" sz="2000" b="1" dirty="0"/>
          </a:p>
        </p:txBody>
      </p:sp>
      <p:sp>
        <p:nvSpPr>
          <p:cNvPr id="8" name="Text 5"/>
          <p:cNvSpPr/>
          <p:nvPr/>
        </p:nvSpPr>
        <p:spPr>
          <a:xfrm>
            <a:off x="1180564" y="2920915"/>
            <a:ext cx="5765840" cy="281345"/>
          </a:xfrm>
          <a:prstGeom prst="rect">
            <a:avLst/>
          </a:prstGeom>
          <a:noFill/>
          <a:ln/>
        </p:spPr>
        <p:txBody>
          <a:bodyPr wrap="none" lIns="0" tIns="0" rIns="0" bIns="0" rtlCol="0" anchor="t"/>
          <a:lstStyle/>
          <a:p>
            <a:pPr marL="0" indent="0" algn="l">
              <a:lnSpc>
                <a:spcPts val="2200"/>
              </a:lnSpc>
              <a:buNone/>
            </a:pPr>
            <a:r>
              <a:rPr lang="en-US" b="1" dirty="0">
                <a:solidFill>
                  <a:srgbClr val="2B4150"/>
                </a:solidFill>
                <a:latin typeface="Source Sans 3" pitchFamily="34" charset="0"/>
                <a:ea typeface="Source Sans 3" pitchFamily="34" charset="-122"/>
                <a:cs typeface="Source Sans 3" pitchFamily="34" charset="-120"/>
              </a:rPr>
              <a:t>Obtains intraday market data from datasets or external sources</a:t>
            </a:r>
            <a:endParaRPr lang="en-US" b="1" dirty="0"/>
          </a:p>
        </p:txBody>
      </p:sp>
      <p:pic>
        <p:nvPicPr>
          <p:cNvPr id="9" name="Image 1"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338" y="3520023"/>
            <a:ext cx="274439" cy="274439"/>
          </a:xfrm>
          <a:prstGeom prst="rect">
            <a:avLst/>
          </a:prstGeom>
        </p:spPr>
      </p:pic>
      <p:sp>
        <p:nvSpPr>
          <p:cNvPr id="10" name="Text 6"/>
          <p:cNvSpPr/>
          <p:nvPr/>
        </p:nvSpPr>
        <p:spPr>
          <a:xfrm>
            <a:off x="1326237" y="3514368"/>
            <a:ext cx="2287072" cy="285869"/>
          </a:xfrm>
          <a:prstGeom prst="rect">
            <a:avLst/>
          </a:prstGeom>
          <a:noFill/>
          <a:ln/>
        </p:spPr>
        <p:txBody>
          <a:bodyPr wrap="none" lIns="0" tIns="0" rIns="0" bIns="0" rtlCol="0" anchor="t"/>
          <a:lstStyle/>
          <a:p>
            <a:pPr marL="0" indent="0" algn="l">
              <a:lnSpc>
                <a:spcPts val="2250"/>
              </a:lnSpc>
              <a:buNone/>
            </a:pPr>
            <a:r>
              <a:rPr lang="en-US" sz="2000" b="1" dirty="0">
                <a:solidFill>
                  <a:srgbClr val="2B4150"/>
                </a:solidFill>
                <a:latin typeface="MuseoModerno Medium" pitchFamily="34" charset="0"/>
                <a:ea typeface="MuseoModerno Medium" pitchFamily="34" charset="-122"/>
                <a:cs typeface="MuseoModerno Medium" pitchFamily="34" charset="-120"/>
              </a:rPr>
              <a:t>Preprocessing</a:t>
            </a:r>
            <a:endParaRPr lang="en-US" sz="2000" b="1" dirty="0"/>
          </a:p>
        </p:txBody>
      </p:sp>
      <p:sp>
        <p:nvSpPr>
          <p:cNvPr id="11" name="Text 7"/>
          <p:cNvSpPr/>
          <p:nvPr/>
        </p:nvSpPr>
        <p:spPr>
          <a:xfrm>
            <a:off x="1326237" y="3968829"/>
            <a:ext cx="5765840" cy="281345"/>
          </a:xfrm>
          <a:prstGeom prst="rect">
            <a:avLst/>
          </a:prstGeom>
          <a:noFill/>
          <a:ln/>
        </p:spPr>
        <p:txBody>
          <a:bodyPr wrap="none" lIns="0" tIns="0" rIns="0" bIns="0" rtlCol="0" anchor="t"/>
          <a:lstStyle/>
          <a:p>
            <a:pPr marL="0" indent="0" algn="l">
              <a:lnSpc>
                <a:spcPts val="2200"/>
              </a:lnSpc>
              <a:buNone/>
            </a:pPr>
            <a:r>
              <a:rPr lang="en-US" b="1" dirty="0">
                <a:solidFill>
                  <a:srgbClr val="2B4150"/>
                </a:solidFill>
                <a:latin typeface="Source Sans 3" pitchFamily="34" charset="0"/>
                <a:ea typeface="Source Sans 3" pitchFamily="34" charset="-122"/>
                <a:cs typeface="Source Sans 3" pitchFamily="34" charset="-120"/>
              </a:rPr>
              <a:t>Cleans data, removes missing values, formats dataset</a:t>
            </a:r>
            <a:endParaRPr lang="en-US" b="1" dirty="0"/>
          </a:p>
        </p:txBody>
      </p:sp>
      <p:pic>
        <p:nvPicPr>
          <p:cNvPr id="12" name="Image 2"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338" y="4593134"/>
            <a:ext cx="274439" cy="274439"/>
          </a:xfrm>
          <a:prstGeom prst="rect">
            <a:avLst/>
          </a:prstGeom>
        </p:spPr>
      </p:pic>
      <p:sp>
        <p:nvSpPr>
          <p:cNvPr id="13" name="Text 8"/>
          <p:cNvSpPr/>
          <p:nvPr/>
        </p:nvSpPr>
        <p:spPr>
          <a:xfrm>
            <a:off x="1326237" y="4587478"/>
            <a:ext cx="2287072" cy="285869"/>
          </a:xfrm>
          <a:prstGeom prst="rect">
            <a:avLst/>
          </a:prstGeom>
          <a:noFill/>
          <a:ln/>
        </p:spPr>
        <p:txBody>
          <a:bodyPr wrap="none" lIns="0" tIns="0" rIns="0" bIns="0" rtlCol="0" anchor="t"/>
          <a:lstStyle/>
          <a:p>
            <a:pPr marL="0" indent="0" algn="l">
              <a:lnSpc>
                <a:spcPts val="2250"/>
              </a:lnSpc>
              <a:buNone/>
            </a:pPr>
            <a:r>
              <a:rPr lang="en-US" sz="2000" b="1" dirty="0">
                <a:solidFill>
                  <a:srgbClr val="2B4150"/>
                </a:solidFill>
                <a:latin typeface="MuseoModerno Medium" pitchFamily="34" charset="0"/>
                <a:ea typeface="MuseoModerno Medium" pitchFamily="34" charset="-122"/>
                <a:cs typeface="MuseoModerno Medium" pitchFamily="34" charset="-120"/>
              </a:rPr>
              <a:t>Volatility Calculation</a:t>
            </a:r>
            <a:endParaRPr lang="en-US" sz="2000" b="1" dirty="0"/>
          </a:p>
        </p:txBody>
      </p:sp>
      <p:sp>
        <p:nvSpPr>
          <p:cNvPr id="14" name="Text 9"/>
          <p:cNvSpPr/>
          <p:nvPr/>
        </p:nvSpPr>
        <p:spPr>
          <a:xfrm>
            <a:off x="1326237" y="5041940"/>
            <a:ext cx="5765840" cy="281345"/>
          </a:xfrm>
          <a:prstGeom prst="rect">
            <a:avLst/>
          </a:prstGeom>
          <a:noFill/>
          <a:ln/>
        </p:spPr>
        <p:txBody>
          <a:bodyPr wrap="none" lIns="0" tIns="0" rIns="0" bIns="0" rtlCol="0" anchor="t"/>
          <a:lstStyle/>
          <a:p>
            <a:pPr marL="0" indent="0" algn="l">
              <a:lnSpc>
                <a:spcPts val="2200"/>
              </a:lnSpc>
              <a:buNone/>
            </a:pPr>
            <a:r>
              <a:rPr lang="en-US" b="1" dirty="0">
                <a:solidFill>
                  <a:srgbClr val="2B4150"/>
                </a:solidFill>
                <a:latin typeface="Source Sans 3" pitchFamily="34" charset="0"/>
                <a:ea typeface="Source Sans 3" pitchFamily="34" charset="-122"/>
                <a:cs typeface="Source Sans 3" pitchFamily="34" charset="-120"/>
              </a:rPr>
              <a:t>Computes volatility using standard deviation or price returns</a:t>
            </a:r>
            <a:endParaRPr lang="en-US" b="1" dirty="0"/>
          </a:p>
        </p:txBody>
      </p:sp>
      <p:pic>
        <p:nvPicPr>
          <p:cNvPr id="15" name="Image 3"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338" y="5666244"/>
            <a:ext cx="274439" cy="274439"/>
          </a:xfrm>
          <a:prstGeom prst="rect">
            <a:avLst/>
          </a:prstGeom>
        </p:spPr>
      </p:pic>
      <p:sp>
        <p:nvSpPr>
          <p:cNvPr id="16" name="Text 10"/>
          <p:cNvSpPr/>
          <p:nvPr/>
        </p:nvSpPr>
        <p:spPr>
          <a:xfrm>
            <a:off x="1326237" y="5660588"/>
            <a:ext cx="2287072" cy="285869"/>
          </a:xfrm>
          <a:prstGeom prst="rect">
            <a:avLst/>
          </a:prstGeom>
          <a:noFill/>
          <a:ln/>
        </p:spPr>
        <p:txBody>
          <a:bodyPr wrap="none" lIns="0" tIns="0" rIns="0" bIns="0" rtlCol="0" anchor="t"/>
          <a:lstStyle/>
          <a:p>
            <a:pPr marL="0" indent="0" algn="l">
              <a:lnSpc>
                <a:spcPts val="2250"/>
              </a:lnSpc>
              <a:buNone/>
            </a:pPr>
            <a:r>
              <a:rPr lang="en-US" sz="2000" b="1" dirty="0">
                <a:solidFill>
                  <a:srgbClr val="2B4150"/>
                </a:solidFill>
                <a:latin typeface="MuseoModerno Medium" pitchFamily="34" charset="0"/>
                <a:ea typeface="MuseoModerno Medium" pitchFamily="34" charset="-122"/>
                <a:cs typeface="MuseoModerno Medium" pitchFamily="34" charset="-120"/>
              </a:rPr>
              <a:t>Analysis</a:t>
            </a:r>
            <a:endParaRPr lang="en-US" sz="2000" b="1" dirty="0"/>
          </a:p>
        </p:txBody>
      </p:sp>
      <p:sp>
        <p:nvSpPr>
          <p:cNvPr id="17" name="Text 11"/>
          <p:cNvSpPr/>
          <p:nvPr/>
        </p:nvSpPr>
        <p:spPr>
          <a:xfrm>
            <a:off x="1326237" y="6115050"/>
            <a:ext cx="5765840" cy="281345"/>
          </a:xfrm>
          <a:prstGeom prst="rect">
            <a:avLst/>
          </a:prstGeom>
          <a:noFill/>
          <a:ln/>
        </p:spPr>
        <p:txBody>
          <a:bodyPr wrap="none" lIns="0" tIns="0" rIns="0" bIns="0" rtlCol="0" anchor="t"/>
          <a:lstStyle/>
          <a:p>
            <a:pPr marL="0" indent="0" algn="l">
              <a:lnSpc>
                <a:spcPts val="2200"/>
              </a:lnSpc>
              <a:buNone/>
            </a:pPr>
            <a:r>
              <a:rPr lang="en-US" b="1" dirty="0">
                <a:solidFill>
                  <a:srgbClr val="2B4150"/>
                </a:solidFill>
                <a:latin typeface="Source Sans 3" pitchFamily="34" charset="0"/>
                <a:ea typeface="Source Sans 3" pitchFamily="34" charset="-122"/>
                <a:cs typeface="Source Sans 3" pitchFamily="34" charset="-120"/>
              </a:rPr>
              <a:t>Identifies patterns and classifies high/low volatility zones</a:t>
            </a:r>
            <a:endParaRPr lang="en-US" b="1" dirty="0"/>
          </a:p>
        </p:txBody>
      </p:sp>
      <p:pic>
        <p:nvPicPr>
          <p:cNvPr id="18" name="Image 4"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800338" y="6739354"/>
            <a:ext cx="274439" cy="274439"/>
          </a:xfrm>
          <a:prstGeom prst="rect">
            <a:avLst/>
          </a:prstGeom>
        </p:spPr>
      </p:pic>
      <p:sp>
        <p:nvSpPr>
          <p:cNvPr id="19" name="Text 12"/>
          <p:cNvSpPr/>
          <p:nvPr/>
        </p:nvSpPr>
        <p:spPr>
          <a:xfrm>
            <a:off x="1326237" y="6733699"/>
            <a:ext cx="2287072" cy="285869"/>
          </a:xfrm>
          <a:prstGeom prst="rect">
            <a:avLst/>
          </a:prstGeom>
          <a:noFill/>
          <a:ln/>
        </p:spPr>
        <p:txBody>
          <a:bodyPr wrap="none" lIns="0" tIns="0" rIns="0" bIns="0" rtlCol="0" anchor="t"/>
          <a:lstStyle/>
          <a:p>
            <a:pPr marL="0" indent="0" algn="l">
              <a:lnSpc>
                <a:spcPts val="2250"/>
              </a:lnSpc>
              <a:buNone/>
            </a:pPr>
            <a:r>
              <a:rPr lang="en-US" sz="2000" b="1" dirty="0">
                <a:solidFill>
                  <a:srgbClr val="2B4150"/>
                </a:solidFill>
                <a:latin typeface="MuseoModerno Medium" pitchFamily="34" charset="0"/>
                <a:ea typeface="MuseoModerno Medium" pitchFamily="34" charset="-122"/>
                <a:cs typeface="MuseoModerno Medium" pitchFamily="34" charset="-120"/>
              </a:rPr>
              <a:t>Visualization</a:t>
            </a:r>
            <a:endParaRPr lang="en-US" sz="2000" b="1" dirty="0"/>
          </a:p>
        </p:txBody>
      </p:sp>
      <p:sp>
        <p:nvSpPr>
          <p:cNvPr id="20" name="Text 13"/>
          <p:cNvSpPr/>
          <p:nvPr/>
        </p:nvSpPr>
        <p:spPr>
          <a:xfrm>
            <a:off x="1326237" y="7188160"/>
            <a:ext cx="5765840" cy="281345"/>
          </a:xfrm>
          <a:prstGeom prst="rect">
            <a:avLst/>
          </a:prstGeom>
          <a:noFill/>
          <a:ln/>
        </p:spPr>
        <p:txBody>
          <a:bodyPr wrap="none" lIns="0" tIns="0" rIns="0" bIns="0" rtlCol="0" anchor="t"/>
          <a:lstStyle/>
          <a:p>
            <a:pPr marL="0" indent="0" algn="l">
              <a:lnSpc>
                <a:spcPts val="2200"/>
              </a:lnSpc>
              <a:buNone/>
            </a:pPr>
            <a:r>
              <a:rPr lang="en-US" b="1" dirty="0">
                <a:solidFill>
                  <a:srgbClr val="2B4150"/>
                </a:solidFill>
                <a:latin typeface="Source Sans 3" pitchFamily="34" charset="0"/>
                <a:ea typeface="Source Sans 3" pitchFamily="34" charset="-122"/>
                <a:cs typeface="Source Sans 3" pitchFamily="34" charset="-120"/>
              </a:rPr>
              <a:t>Presents results via charts and graphs</a:t>
            </a:r>
            <a:endParaRPr lang="en-US" b="1" dirty="0"/>
          </a:p>
        </p:txBody>
      </p:sp>
      <p:sp>
        <p:nvSpPr>
          <p:cNvPr id="21" name="Shape 14"/>
          <p:cNvSpPr/>
          <p:nvPr/>
        </p:nvSpPr>
        <p:spPr>
          <a:xfrm>
            <a:off x="7414260" y="1797129"/>
            <a:ext cx="6623685" cy="5862042"/>
          </a:xfrm>
          <a:prstGeom prst="roundRect">
            <a:avLst>
              <a:gd name="adj" fmla="val 468"/>
            </a:avLst>
          </a:prstGeom>
          <a:solidFill>
            <a:srgbClr val="063E5F"/>
          </a:solidFill>
          <a:ln/>
        </p:spPr>
      </p:sp>
      <p:sp>
        <p:nvSpPr>
          <p:cNvPr id="22" name="Text 15"/>
          <p:cNvSpPr/>
          <p:nvPr/>
        </p:nvSpPr>
        <p:spPr>
          <a:xfrm>
            <a:off x="7597140" y="1965722"/>
            <a:ext cx="2287072" cy="285869"/>
          </a:xfrm>
          <a:prstGeom prst="rect">
            <a:avLst/>
          </a:prstGeom>
          <a:noFill/>
          <a:ln/>
        </p:spPr>
        <p:txBody>
          <a:bodyPr wrap="none" lIns="0" tIns="0" rIns="0" bIns="0" rtlCol="0" anchor="t"/>
          <a:lstStyle/>
          <a:p>
            <a:pPr marL="0" indent="0" algn="l">
              <a:lnSpc>
                <a:spcPts val="2250"/>
              </a:lnSpc>
              <a:buNone/>
            </a:pPr>
            <a:r>
              <a:rPr lang="en-US" sz="2000" b="1" dirty="0">
                <a:solidFill>
                  <a:srgbClr val="FFFFFF"/>
                </a:solidFill>
                <a:latin typeface="MuseoModerno Medium" pitchFamily="34" charset="0"/>
                <a:ea typeface="MuseoModerno Medium" pitchFamily="34" charset="-122"/>
                <a:cs typeface="MuseoModerno Medium" pitchFamily="34" charset="-120"/>
              </a:rPr>
              <a:t>Algorithm Steps</a:t>
            </a:r>
            <a:endParaRPr lang="en-US" sz="2000" b="1" dirty="0"/>
          </a:p>
        </p:txBody>
      </p:sp>
      <p:sp>
        <p:nvSpPr>
          <p:cNvPr id="23" name="Text 16"/>
          <p:cNvSpPr/>
          <p:nvPr/>
        </p:nvSpPr>
        <p:spPr>
          <a:xfrm>
            <a:off x="7597140" y="2420183"/>
            <a:ext cx="6257925" cy="2323028"/>
          </a:xfrm>
          <a:prstGeom prst="rect">
            <a:avLst/>
          </a:prstGeom>
          <a:noFill/>
          <a:ln/>
        </p:spPr>
        <p:txBody>
          <a:bodyPr wrap="square" lIns="0" tIns="0" rIns="0" bIns="0" rtlCol="0" anchor="t"/>
          <a:lstStyle/>
          <a:p>
            <a:pPr marL="342900" indent="-342900" algn="l">
              <a:lnSpc>
                <a:spcPts val="2200"/>
              </a:lnSpc>
              <a:buSzPct val="100000"/>
              <a:buFont typeface="+mj-lt"/>
              <a:buAutoNum type="arabicPeriod"/>
            </a:pPr>
            <a:r>
              <a:rPr lang="en-US" sz="1600" b="1" dirty="0">
                <a:solidFill>
                  <a:srgbClr val="FFFFFF"/>
                </a:solidFill>
                <a:latin typeface="Source Sans 3" pitchFamily="34" charset="0"/>
                <a:ea typeface="Source Sans 3" pitchFamily="34" charset="-122"/>
                <a:cs typeface="Source Sans 3" pitchFamily="34" charset="-120"/>
              </a:rPr>
              <a:t>Load intraday market data (price, time, volume)</a:t>
            </a:r>
            <a:endParaRPr lang="en-US" sz="1600" b="1" dirty="0"/>
          </a:p>
          <a:p>
            <a:pPr marL="342900" indent="-342900" algn="l">
              <a:lnSpc>
                <a:spcPts val="2200"/>
              </a:lnSpc>
              <a:buSzPct val="100000"/>
              <a:buFont typeface="+mj-lt"/>
              <a:buAutoNum type="arabicPeriod" startAt="2"/>
            </a:pPr>
            <a:r>
              <a:rPr lang="en-US" sz="1600" b="1" dirty="0">
                <a:solidFill>
                  <a:srgbClr val="FFFFFF"/>
                </a:solidFill>
                <a:latin typeface="Source Sans 3" pitchFamily="34" charset="0"/>
                <a:ea typeface="Source Sans 3" pitchFamily="34" charset="-122"/>
                <a:cs typeface="Source Sans 3" pitchFamily="34" charset="-120"/>
              </a:rPr>
              <a:t>Handle missing or inconsistent values</a:t>
            </a:r>
            <a:endParaRPr lang="en-US" sz="1600" b="1" dirty="0"/>
          </a:p>
          <a:p>
            <a:pPr marL="342900" indent="-342900" algn="l">
              <a:lnSpc>
                <a:spcPts val="2200"/>
              </a:lnSpc>
              <a:buSzPct val="100000"/>
              <a:buFont typeface="+mj-lt"/>
              <a:buAutoNum type="arabicPeriod" startAt="3"/>
            </a:pPr>
            <a:r>
              <a:rPr lang="en-US" sz="1600" b="1" dirty="0">
                <a:solidFill>
                  <a:srgbClr val="FFFFFF"/>
                </a:solidFill>
                <a:latin typeface="Source Sans 3" pitchFamily="34" charset="0"/>
                <a:ea typeface="Source Sans 3" pitchFamily="34" charset="-122"/>
                <a:cs typeface="Source Sans 3" pitchFamily="34" charset="-120"/>
              </a:rPr>
              <a:t>Compute price returns using percentage change</a:t>
            </a:r>
            <a:endParaRPr lang="en-US" sz="1600" b="1" dirty="0"/>
          </a:p>
          <a:p>
            <a:pPr marL="342900" indent="-342900" algn="l">
              <a:lnSpc>
                <a:spcPts val="2200"/>
              </a:lnSpc>
              <a:buSzPct val="100000"/>
              <a:buFont typeface="+mj-lt"/>
              <a:buAutoNum type="arabicPeriod" startAt="4"/>
            </a:pPr>
            <a:r>
              <a:rPr lang="en-US" sz="1600" b="1" dirty="0">
                <a:solidFill>
                  <a:srgbClr val="FFFFFF"/>
                </a:solidFill>
                <a:latin typeface="Source Sans 3" pitchFamily="34" charset="0"/>
                <a:ea typeface="Source Sans 3" pitchFamily="34" charset="-122"/>
                <a:cs typeface="Source Sans 3" pitchFamily="34" charset="-120"/>
              </a:rPr>
              <a:t>Apply rolling standard deviation over a fixed time window</a:t>
            </a:r>
            <a:endParaRPr lang="en-US" sz="1600" b="1" dirty="0"/>
          </a:p>
          <a:p>
            <a:pPr marL="342900" indent="-342900" algn="l">
              <a:lnSpc>
                <a:spcPts val="2200"/>
              </a:lnSpc>
              <a:buSzPct val="100000"/>
              <a:buFont typeface="+mj-lt"/>
              <a:buAutoNum type="arabicPeriod" startAt="5"/>
            </a:pPr>
            <a:r>
              <a:rPr lang="en-US" sz="1600" b="1" dirty="0">
                <a:solidFill>
                  <a:srgbClr val="FFFFFF"/>
                </a:solidFill>
                <a:latin typeface="Source Sans 3" pitchFamily="34" charset="0"/>
                <a:ea typeface="Source Sans 3" pitchFamily="34" charset="-122"/>
                <a:cs typeface="Source Sans 3" pitchFamily="34" charset="-120"/>
              </a:rPr>
              <a:t>Define thresholds to classify volatility as high or low</a:t>
            </a:r>
            <a:endParaRPr lang="en-US" sz="1600" b="1" dirty="0"/>
          </a:p>
          <a:p>
            <a:pPr marL="342900" indent="-342900" algn="l">
              <a:lnSpc>
                <a:spcPts val="2200"/>
              </a:lnSpc>
              <a:buSzPct val="100000"/>
              <a:buFont typeface="+mj-lt"/>
              <a:buAutoNum type="arabicPeriod" startAt="6"/>
            </a:pPr>
            <a:r>
              <a:rPr lang="en-US" sz="1600" b="1" dirty="0">
                <a:solidFill>
                  <a:srgbClr val="FFFFFF"/>
                </a:solidFill>
                <a:latin typeface="Source Sans 3" pitchFamily="34" charset="0"/>
                <a:ea typeface="Source Sans 3" pitchFamily="34" charset="-122"/>
                <a:cs typeface="Source Sans 3" pitchFamily="34" charset="-120"/>
              </a:rPr>
              <a:t>Analyze and label volatility regions</a:t>
            </a:r>
            <a:endParaRPr lang="en-US" sz="1600" b="1" dirty="0"/>
          </a:p>
          <a:p>
            <a:pPr marL="342900" indent="-342900" algn="l">
              <a:lnSpc>
                <a:spcPts val="2200"/>
              </a:lnSpc>
              <a:buSzPct val="100000"/>
              <a:buFont typeface="+mj-lt"/>
              <a:buAutoNum type="arabicPeriod" startAt="7"/>
            </a:pPr>
            <a:r>
              <a:rPr lang="en-US" sz="1600" b="1" dirty="0">
                <a:solidFill>
                  <a:srgbClr val="FFFFFF"/>
                </a:solidFill>
                <a:latin typeface="Source Sans 3" pitchFamily="34" charset="0"/>
                <a:ea typeface="Source Sans 3" pitchFamily="34" charset="-122"/>
                <a:cs typeface="Source Sans 3" pitchFamily="34" charset="-120"/>
              </a:rPr>
              <a:t>Display results through graphs or summaries</a:t>
            </a:r>
            <a:endParaRPr lang="en-US" sz="1600" b="1" dirty="0"/>
          </a:p>
        </p:txBody>
      </p:sp>
      <p:sp>
        <p:nvSpPr>
          <p:cNvPr id="24" name="Text 17"/>
          <p:cNvSpPr/>
          <p:nvPr/>
        </p:nvSpPr>
        <p:spPr>
          <a:xfrm>
            <a:off x="7597140" y="4911804"/>
            <a:ext cx="2287072" cy="285869"/>
          </a:xfrm>
          <a:prstGeom prst="rect">
            <a:avLst/>
          </a:prstGeom>
          <a:noFill/>
          <a:ln/>
        </p:spPr>
        <p:txBody>
          <a:bodyPr wrap="none" lIns="0" tIns="0" rIns="0" bIns="0" rtlCol="0" anchor="t"/>
          <a:lstStyle/>
          <a:p>
            <a:pPr marL="0" indent="0" algn="l">
              <a:lnSpc>
                <a:spcPts val="2250"/>
              </a:lnSpc>
              <a:buNone/>
            </a:pPr>
            <a:r>
              <a:rPr lang="en-US" sz="2000" b="1" dirty="0">
                <a:solidFill>
                  <a:srgbClr val="FFFFFF"/>
                </a:solidFill>
                <a:latin typeface="MuseoModerno Medium" pitchFamily="34" charset="0"/>
                <a:ea typeface="MuseoModerno Medium" pitchFamily="34" charset="-122"/>
                <a:cs typeface="MuseoModerno Medium" pitchFamily="34" charset="-120"/>
              </a:rPr>
              <a:t>Tools &amp; Technologies</a:t>
            </a:r>
            <a:endParaRPr lang="en-US" sz="2000" b="1" dirty="0"/>
          </a:p>
        </p:txBody>
      </p:sp>
      <p:sp>
        <p:nvSpPr>
          <p:cNvPr id="25" name="Text 18"/>
          <p:cNvSpPr/>
          <p:nvPr/>
        </p:nvSpPr>
        <p:spPr>
          <a:xfrm>
            <a:off x="7597140" y="5366266"/>
            <a:ext cx="6257925" cy="562689"/>
          </a:xfrm>
          <a:prstGeom prst="rect">
            <a:avLst/>
          </a:prstGeom>
          <a:noFill/>
          <a:ln/>
        </p:spPr>
        <p:txBody>
          <a:bodyPr wrap="square" lIns="0" tIns="0" rIns="0" bIns="0" rtlCol="0" anchor="t"/>
          <a:lstStyle/>
          <a:p>
            <a:pPr marL="0" indent="0" algn="l">
              <a:lnSpc>
                <a:spcPts val="2200"/>
              </a:lnSpc>
              <a:buNone/>
            </a:pPr>
            <a:r>
              <a:rPr lang="en-US" sz="1600" b="1" dirty="0">
                <a:solidFill>
                  <a:srgbClr val="FFFFFF"/>
                </a:solidFill>
                <a:latin typeface="Source Sans 3" pitchFamily="34" charset="0"/>
                <a:ea typeface="Source Sans 3" pitchFamily="34" charset="-122"/>
                <a:cs typeface="Source Sans 3" pitchFamily="34" charset="-120"/>
              </a:rPr>
              <a:t>Python · Pandas · NumPy · Matplotlib/Seaborn · Jupyter/VS Code/PyCharm · Git/GitHub</a:t>
            </a:r>
            <a:endParaRPr lang="en-US" sz="1600" b="1" dirty="0"/>
          </a:p>
        </p:txBody>
      </p:sp>
      <p:sp>
        <p:nvSpPr>
          <p:cNvPr id="26" name="Rectangle 25">
            <a:extLst>
              <a:ext uri="{FF2B5EF4-FFF2-40B4-BE49-F238E27FC236}">
                <a16:creationId xmlns:a16="http://schemas.microsoft.com/office/drawing/2014/main" id="{CF019764-39CE-455F-8FD1-19BC6E4892B1}"/>
              </a:ext>
            </a:extLst>
          </p:cNvPr>
          <p:cNvSpPr/>
          <p:nvPr/>
        </p:nvSpPr>
        <p:spPr>
          <a:xfrm flipV="1">
            <a:off x="12662703" y="76392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9144000" y="0"/>
            <a:ext cx="5486400" cy="8229600"/>
          </a:xfrm>
          <a:prstGeom prst="rect">
            <a:avLst/>
          </a:prstGeom>
        </p:spPr>
      </p:pic>
      <p:sp>
        <p:nvSpPr>
          <p:cNvPr id="3" name="Shape 0"/>
          <p:cNvSpPr/>
          <p:nvPr/>
        </p:nvSpPr>
        <p:spPr>
          <a:xfrm>
            <a:off x="719376" y="552093"/>
            <a:ext cx="897969" cy="342543"/>
          </a:xfrm>
          <a:prstGeom prst="roundRect">
            <a:avLst>
              <a:gd name="adj" fmla="val 6301"/>
            </a:avLst>
          </a:prstGeom>
          <a:noFill/>
          <a:ln w="7620">
            <a:solidFill>
              <a:srgbClr val="325F7B"/>
            </a:solidFill>
            <a:prstDash val="solid"/>
          </a:ln>
        </p:spPr>
      </p:sp>
      <p:sp>
        <p:nvSpPr>
          <p:cNvPr id="4" name="Text 1"/>
          <p:cNvSpPr/>
          <p:nvPr/>
        </p:nvSpPr>
        <p:spPr>
          <a:xfrm>
            <a:off x="834866" y="613648"/>
            <a:ext cx="666988" cy="219432"/>
          </a:xfrm>
          <a:prstGeom prst="rect">
            <a:avLst/>
          </a:prstGeom>
          <a:noFill/>
          <a:ln/>
        </p:spPr>
        <p:txBody>
          <a:bodyPr wrap="none" lIns="0" tIns="0" rIns="0" bIns="0" rtlCol="0" anchor="t"/>
          <a:lstStyle/>
          <a:p>
            <a:pPr marL="0" indent="0" algn="l">
              <a:lnSpc>
                <a:spcPts val="1700"/>
              </a:lnSpc>
              <a:buNone/>
            </a:pPr>
            <a:r>
              <a:rPr lang="en-US" sz="1200" b="1" dirty="0">
                <a:solidFill>
                  <a:srgbClr val="325F7B"/>
                </a:solidFill>
                <a:latin typeface="Source Sans 3" pitchFamily="34" charset="0"/>
                <a:ea typeface="Source Sans 3" pitchFamily="34" charset="-122"/>
                <a:cs typeface="Source Sans 3" pitchFamily="34" charset="-120"/>
              </a:rPr>
              <a:t>CHAPTER 6</a:t>
            </a:r>
            <a:endParaRPr lang="en-US" sz="1200" b="1" dirty="0"/>
          </a:p>
        </p:txBody>
      </p:sp>
      <p:sp>
        <p:nvSpPr>
          <p:cNvPr id="5" name="Text 2"/>
          <p:cNvSpPr/>
          <p:nvPr/>
        </p:nvSpPr>
        <p:spPr>
          <a:xfrm>
            <a:off x="719376" y="959763"/>
            <a:ext cx="4496633" cy="562094"/>
          </a:xfrm>
          <a:prstGeom prst="rect">
            <a:avLst/>
          </a:prstGeom>
          <a:noFill/>
          <a:ln/>
        </p:spPr>
        <p:txBody>
          <a:bodyPr wrap="none" lIns="0" tIns="0" rIns="0" bIns="0" rtlCol="0" anchor="t"/>
          <a:lstStyle/>
          <a:p>
            <a:pPr marL="0" indent="0" algn="l">
              <a:lnSpc>
                <a:spcPts val="4400"/>
              </a:lnSpc>
              <a:buNone/>
            </a:pPr>
            <a:r>
              <a:rPr lang="en-US" sz="3600" b="1" dirty="0">
                <a:solidFill>
                  <a:srgbClr val="124E73"/>
                </a:solidFill>
                <a:latin typeface="MuseoModerno Medium" pitchFamily="34" charset="0"/>
                <a:ea typeface="MuseoModerno Medium" pitchFamily="34" charset="-122"/>
                <a:cs typeface="MuseoModerno Medium" pitchFamily="34" charset="-120"/>
              </a:rPr>
              <a:t>Results &amp; Outcomes</a:t>
            </a:r>
            <a:endParaRPr lang="en-US" sz="3600" b="1" dirty="0"/>
          </a:p>
        </p:txBody>
      </p:sp>
      <p:sp>
        <p:nvSpPr>
          <p:cNvPr id="6" name="Shape 3"/>
          <p:cNvSpPr/>
          <p:nvPr/>
        </p:nvSpPr>
        <p:spPr>
          <a:xfrm>
            <a:off x="719376" y="1766292"/>
            <a:ext cx="7705249" cy="1286947"/>
          </a:xfrm>
          <a:prstGeom prst="roundRect">
            <a:avLst>
              <a:gd name="adj" fmla="val 2096"/>
            </a:avLst>
          </a:prstGeom>
          <a:solidFill>
            <a:srgbClr val="F3EEE3"/>
          </a:solidFill>
          <a:ln/>
        </p:spPr>
      </p:sp>
      <p:sp>
        <p:nvSpPr>
          <p:cNvPr id="7" name="Text 4"/>
          <p:cNvSpPr/>
          <p:nvPr/>
        </p:nvSpPr>
        <p:spPr>
          <a:xfrm>
            <a:off x="899160" y="1946077"/>
            <a:ext cx="2248257" cy="280988"/>
          </a:xfrm>
          <a:prstGeom prst="rect">
            <a:avLst/>
          </a:prstGeom>
          <a:noFill/>
          <a:ln/>
        </p:spPr>
        <p:txBody>
          <a:bodyPr wrap="none" lIns="0" tIns="0" rIns="0" bIns="0" rtlCol="0" anchor="t"/>
          <a:lstStyle/>
          <a:p>
            <a:pPr marL="0" indent="0" algn="l">
              <a:lnSpc>
                <a:spcPts val="2200"/>
              </a:lnSpc>
              <a:buNone/>
            </a:pPr>
            <a:r>
              <a:rPr lang="en-US" sz="2000" b="1" dirty="0">
                <a:solidFill>
                  <a:srgbClr val="2B4150"/>
                </a:solidFill>
                <a:latin typeface="MuseoModerno Medium" pitchFamily="34" charset="0"/>
                <a:ea typeface="MuseoModerno Medium" pitchFamily="34" charset="-122"/>
                <a:cs typeface="MuseoModerno Medium" pitchFamily="34" charset="-120"/>
              </a:rPr>
              <a:t>Volatility Detection</a:t>
            </a:r>
            <a:endParaRPr lang="en-US" sz="2000" b="1" dirty="0"/>
          </a:p>
        </p:txBody>
      </p:sp>
      <p:sp>
        <p:nvSpPr>
          <p:cNvPr id="8" name="Text 5"/>
          <p:cNvSpPr/>
          <p:nvPr/>
        </p:nvSpPr>
        <p:spPr>
          <a:xfrm>
            <a:off x="899160" y="2248517"/>
            <a:ext cx="7345680" cy="548640"/>
          </a:xfrm>
          <a:prstGeom prst="rect">
            <a:avLst/>
          </a:prstGeom>
          <a:noFill/>
          <a:ln/>
        </p:spPr>
        <p:txBody>
          <a:bodyPr wrap="square" lIns="0" tIns="0" rIns="0" bIns="0" rtlCol="0" anchor="t"/>
          <a:lstStyle/>
          <a:p>
            <a:pPr marL="0" indent="0" algn="l">
              <a:lnSpc>
                <a:spcPts val="2150"/>
              </a:lnSpc>
              <a:buNone/>
            </a:pPr>
            <a:r>
              <a:rPr lang="en-US" dirty="0">
                <a:solidFill>
                  <a:srgbClr val="2B4150"/>
                </a:solidFill>
                <a:latin typeface="Source Sans 3" pitchFamily="34" charset="0"/>
                <a:ea typeface="Source Sans 3" pitchFamily="34" charset="-122"/>
                <a:cs typeface="Source Sans 3" pitchFamily="34" charset="-120"/>
              </a:rPr>
              <a:t>The project successfully detects and analyzes intraday market volatility using statistical methods, identifying periods of high and low volatility and presenting them in a clear, visual format.</a:t>
            </a:r>
            <a:endParaRPr lang="en-US" dirty="0"/>
          </a:p>
        </p:txBody>
      </p:sp>
      <p:sp>
        <p:nvSpPr>
          <p:cNvPr id="9" name="Shape 6"/>
          <p:cNvSpPr/>
          <p:nvPr/>
        </p:nvSpPr>
        <p:spPr>
          <a:xfrm>
            <a:off x="719376" y="3216235"/>
            <a:ext cx="7705249" cy="1286947"/>
          </a:xfrm>
          <a:prstGeom prst="roundRect">
            <a:avLst>
              <a:gd name="adj" fmla="val 2096"/>
            </a:avLst>
          </a:prstGeom>
          <a:solidFill>
            <a:srgbClr val="F3EEE3"/>
          </a:solidFill>
          <a:ln/>
        </p:spPr>
      </p:sp>
      <p:sp>
        <p:nvSpPr>
          <p:cNvPr id="10" name="Text 7"/>
          <p:cNvSpPr/>
          <p:nvPr/>
        </p:nvSpPr>
        <p:spPr>
          <a:xfrm>
            <a:off x="899160" y="3396020"/>
            <a:ext cx="2248257" cy="280988"/>
          </a:xfrm>
          <a:prstGeom prst="rect">
            <a:avLst/>
          </a:prstGeom>
          <a:noFill/>
          <a:ln/>
        </p:spPr>
        <p:txBody>
          <a:bodyPr wrap="none" lIns="0" tIns="0" rIns="0" bIns="0" rtlCol="0" anchor="t"/>
          <a:lstStyle/>
          <a:p>
            <a:pPr marL="0" indent="0" algn="l">
              <a:lnSpc>
                <a:spcPts val="2200"/>
              </a:lnSpc>
              <a:buNone/>
            </a:pPr>
            <a:r>
              <a:rPr lang="en-US" sz="2000" b="1" dirty="0">
                <a:solidFill>
                  <a:srgbClr val="2B4150"/>
                </a:solidFill>
                <a:latin typeface="MuseoModerno Medium" pitchFamily="34" charset="0"/>
                <a:ea typeface="MuseoModerno Medium" pitchFamily="34" charset="-122"/>
                <a:cs typeface="MuseoModerno Medium" pitchFamily="34" charset="-120"/>
              </a:rPr>
              <a:t>Pattern Recognition</a:t>
            </a:r>
            <a:endParaRPr lang="en-US" sz="2000" b="1" dirty="0"/>
          </a:p>
        </p:txBody>
      </p:sp>
      <p:sp>
        <p:nvSpPr>
          <p:cNvPr id="11" name="Text 8"/>
          <p:cNvSpPr/>
          <p:nvPr/>
        </p:nvSpPr>
        <p:spPr>
          <a:xfrm>
            <a:off x="899160" y="3647896"/>
            <a:ext cx="7345680" cy="548640"/>
          </a:xfrm>
          <a:prstGeom prst="rect">
            <a:avLst/>
          </a:prstGeom>
          <a:noFill/>
          <a:ln/>
        </p:spPr>
        <p:txBody>
          <a:bodyPr wrap="square" lIns="0" tIns="0" rIns="0" bIns="0" rtlCol="0" anchor="t"/>
          <a:lstStyle/>
          <a:p>
            <a:pPr marL="0" indent="0" algn="l">
              <a:lnSpc>
                <a:spcPts val="2150"/>
              </a:lnSpc>
              <a:buNone/>
            </a:pPr>
            <a:r>
              <a:rPr lang="en-US" dirty="0">
                <a:solidFill>
                  <a:srgbClr val="2B4150"/>
                </a:solidFill>
                <a:latin typeface="Source Sans 3" pitchFamily="34" charset="0"/>
                <a:ea typeface="Source Sans 3" pitchFamily="34" charset="-122"/>
                <a:cs typeface="Source Sans 3" pitchFamily="34" charset="-120"/>
              </a:rPr>
              <a:t>Results highlight common patterns including increased volatility during market opening and closing hours, and volatility clustering, where high-volatility periods occur consecutively.</a:t>
            </a:r>
            <a:endParaRPr lang="en-US" dirty="0"/>
          </a:p>
        </p:txBody>
      </p:sp>
      <p:sp>
        <p:nvSpPr>
          <p:cNvPr id="12" name="Shape 9"/>
          <p:cNvSpPr/>
          <p:nvPr/>
        </p:nvSpPr>
        <p:spPr>
          <a:xfrm>
            <a:off x="719376" y="4666178"/>
            <a:ext cx="7705249" cy="1286947"/>
          </a:xfrm>
          <a:prstGeom prst="roundRect">
            <a:avLst>
              <a:gd name="adj" fmla="val 2096"/>
            </a:avLst>
          </a:prstGeom>
          <a:solidFill>
            <a:srgbClr val="F3EEE3"/>
          </a:solidFill>
          <a:ln/>
        </p:spPr>
      </p:sp>
      <p:sp>
        <p:nvSpPr>
          <p:cNvPr id="13" name="Text 10"/>
          <p:cNvSpPr/>
          <p:nvPr/>
        </p:nvSpPr>
        <p:spPr>
          <a:xfrm>
            <a:off x="899160" y="4845963"/>
            <a:ext cx="2487097" cy="280988"/>
          </a:xfrm>
          <a:prstGeom prst="rect">
            <a:avLst/>
          </a:prstGeom>
          <a:noFill/>
          <a:ln/>
        </p:spPr>
        <p:txBody>
          <a:bodyPr wrap="none" lIns="0" tIns="0" rIns="0" bIns="0" rtlCol="0" anchor="t"/>
          <a:lstStyle/>
          <a:p>
            <a:pPr marL="0" indent="0" algn="l">
              <a:lnSpc>
                <a:spcPts val="2200"/>
              </a:lnSpc>
              <a:buNone/>
            </a:pPr>
            <a:r>
              <a:rPr lang="en-US" sz="2000" b="1" dirty="0">
                <a:solidFill>
                  <a:srgbClr val="2B4150"/>
                </a:solidFill>
                <a:latin typeface="MuseoModerno Medium" pitchFamily="34" charset="0"/>
                <a:ea typeface="MuseoModerno Medium" pitchFamily="34" charset="-122"/>
                <a:cs typeface="MuseoModerno Medium" pitchFamily="34" charset="-120"/>
              </a:rPr>
              <a:t>Effective Preprocessing</a:t>
            </a:r>
            <a:endParaRPr lang="en-US" sz="2000" b="1" dirty="0"/>
          </a:p>
        </p:txBody>
      </p:sp>
      <p:sp>
        <p:nvSpPr>
          <p:cNvPr id="14" name="Text 11"/>
          <p:cNvSpPr/>
          <p:nvPr/>
        </p:nvSpPr>
        <p:spPr>
          <a:xfrm>
            <a:off x="899160" y="5152926"/>
            <a:ext cx="7345680" cy="548640"/>
          </a:xfrm>
          <a:prstGeom prst="rect">
            <a:avLst/>
          </a:prstGeom>
          <a:noFill/>
          <a:ln/>
        </p:spPr>
        <p:txBody>
          <a:bodyPr wrap="square" lIns="0" tIns="0" rIns="0" bIns="0" rtlCol="0" anchor="t"/>
          <a:lstStyle/>
          <a:p>
            <a:pPr marL="0" indent="0" algn="l">
              <a:lnSpc>
                <a:spcPts val="2150"/>
              </a:lnSpc>
              <a:buNone/>
            </a:pPr>
            <a:r>
              <a:rPr lang="en-US" dirty="0">
                <a:solidFill>
                  <a:srgbClr val="2B4150"/>
                </a:solidFill>
                <a:latin typeface="Source Sans 3" pitchFamily="34" charset="0"/>
                <a:ea typeface="Source Sans 3" pitchFamily="34" charset="-122"/>
                <a:cs typeface="Source Sans 3" pitchFamily="34" charset="-120"/>
              </a:rPr>
              <a:t>The system demonstrates robust data preprocessing and handling of intraday datasets, capturing important market characteristics through systematic transformation of raw data.</a:t>
            </a:r>
            <a:endParaRPr lang="en-US" dirty="0"/>
          </a:p>
        </p:txBody>
      </p:sp>
      <p:sp>
        <p:nvSpPr>
          <p:cNvPr id="15" name="Shape 12"/>
          <p:cNvSpPr/>
          <p:nvPr/>
        </p:nvSpPr>
        <p:spPr>
          <a:xfrm>
            <a:off x="719376" y="6116122"/>
            <a:ext cx="7705249" cy="1561267"/>
          </a:xfrm>
          <a:prstGeom prst="roundRect">
            <a:avLst>
              <a:gd name="adj" fmla="val 1728"/>
            </a:avLst>
          </a:prstGeom>
          <a:solidFill>
            <a:srgbClr val="F3EEE3"/>
          </a:solidFill>
          <a:ln/>
        </p:spPr>
      </p:sp>
      <p:sp>
        <p:nvSpPr>
          <p:cNvPr id="16" name="Text 13"/>
          <p:cNvSpPr/>
          <p:nvPr/>
        </p:nvSpPr>
        <p:spPr>
          <a:xfrm>
            <a:off x="899160" y="6295906"/>
            <a:ext cx="2259925" cy="280988"/>
          </a:xfrm>
          <a:prstGeom prst="rect">
            <a:avLst/>
          </a:prstGeom>
          <a:noFill/>
          <a:ln/>
        </p:spPr>
        <p:txBody>
          <a:bodyPr wrap="none" lIns="0" tIns="0" rIns="0" bIns="0" rtlCol="0" anchor="t"/>
          <a:lstStyle/>
          <a:p>
            <a:pPr marL="0" indent="0" algn="l">
              <a:lnSpc>
                <a:spcPts val="2200"/>
              </a:lnSpc>
              <a:buNone/>
            </a:pPr>
            <a:r>
              <a:rPr lang="en-US" sz="2000" b="1" dirty="0">
                <a:solidFill>
                  <a:srgbClr val="2B4150"/>
                </a:solidFill>
                <a:latin typeface="MuseoModerno Medium" pitchFamily="34" charset="0"/>
                <a:ea typeface="MuseoModerno Medium" pitchFamily="34" charset="-122"/>
                <a:cs typeface="MuseoModerno Medium" pitchFamily="34" charset="-120"/>
              </a:rPr>
              <a:t>Meaningful Insights</a:t>
            </a:r>
            <a:endParaRPr lang="en-US" sz="2000" b="1" dirty="0"/>
          </a:p>
        </p:txBody>
      </p:sp>
      <p:sp>
        <p:nvSpPr>
          <p:cNvPr id="17" name="Text 14"/>
          <p:cNvSpPr/>
          <p:nvPr/>
        </p:nvSpPr>
        <p:spPr>
          <a:xfrm>
            <a:off x="899160" y="6674644"/>
            <a:ext cx="7345680" cy="822960"/>
          </a:xfrm>
          <a:prstGeom prst="rect">
            <a:avLst/>
          </a:prstGeom>
          <a:noFill/>
          <a:ln/>
        </p:spPr>
        <p:txBody>
          <a:bodyPr wrap="square" lIns="0" tIns="0" rIns="0" bIns="0" rtlCol="0" anchor="t"/>
          <a:lstStyle/>
          <a:p>
            <a:pPr marL="0" indent="0" algn="l">
              <a:lnSpc>
                <a:spcPts val="2150"/>
              </a:lnSpc>
              <a:buNone/>
            </a:pPr>
            <a:r>
              <a:rPr lang="en-US" dirty="0">
                <a:solidFill>
                  <a:srgbClr val="2B4150"/>
                </a:solidFill>
                <a:latin typeface="Source Sans 3" pitchFamily="34" charset="0"/>
                <a:ea typeface="Source Sans 3" pitchFamily="34" charset="-122"/>
                <a:cs typeface="Source Sans 3" pitchFamily="34" charset="-120"/>
              </a:rPr>
              <a:t>Graphical representations make it easier to understand market behavior, proving that simple analytical techniques can extract valuable information to support trading and risk management decisions.</a:t>
            </a:r>
            <a:endParaRPr lang="en-US"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793790" y="747117"/>
            <a:ext cx="974169" cy="373142"/>
          </a:xfrm>
          <a:prstGeom prst="roundRect">
            <a:avLst>
              <a:gd name="adj" fmla="val 6383"/>
            </a:avLst>
          </a:prstGeom>
          <a:solidFill>
            <a:srgbClr val="DBE8F0"/>
          </a:solidFill>
          <a:ln/>
        </p:spPr>
      </p:sp>
      <p:sp>
        <p:nvSpPr>
          <p:cNvPr id="3" name="Text 1"/>
          <p:cNvSpPr/>
          <p:nvPr/>
        </p:nvSpPr>
        <p:spPr>
          <a:xfrm>
            <a:off x="912852" y="806648"/>
            <a:ext cx="736044" cy="254079"/>
          </a:xfrm>
          <a:prstGeom prst="rect">
            <a:avLst/>
          </a:prstGeom>
          <a:noFill/>
          <a:ln/>
        </p:spPr>
        <p:txBody>
          <a:bodyPr wrap="none" lIns="0" tIns="0" rIns="0" bIns="0" rtlCol="0" anchor="t"/>
          <a:lstStyle/>
          <a:p>
            <a:pPr marL="0" indent="0" algn="l">
              <a:lnSpc>
                <a:spcPts val="2000"/>
              </a:lnSpc>
              <a:buNone/>
            </a:pPr>
            <a:r>
              <a:rPr lang="en-US" sz="1400" b="1" dirty="0">
                <a:solidFill>
                  <a:srgbClr val="2B4150"/>
                </a:solidFill>
                <a:latin typeface="Source Sans 3" pitchFamily="34" charset="0"/>
                <a:ea typeface="Source Sans 3" pitchFamily="34" charset="-122"/>
                <a:cs typeface="Source Sans 3" pitchFamily="34" charset="-120"/>
              </a:rPr>
              <a:t>CHAPTER 7</a:t>
            </a:r>
            <a:endParaRPr lang="en-US" sz="1400" b="1" dirty="0"/>
          </a:p>
        </p:txBody>
      </p:sp>
      <p:sp>
        <p:nvSpPr>
          <p:cNvPr id="4" name="Text 2"/>
          <p:cNvSpPr/>
          <p:nvPr/>
        </p:nvSpPr>
        <p:spPr>
          <a:xfrm>
            <a:off x="793790" y="1199555"/>
            <a:ext cx="6237446" cy="620078"/>
          </a:xfrm>
          <a:prstGeom prst="rect">
            <a:avLst/>
          </a:prstGeom>
          <a:noFill/>
          <a:ln/>
        </p:spPr>
        <p:txBody>
          <a:bodyPr wrap="none" lIns="0" tIns="0" rIns="0" bIns="0" rtlCol="0" anchor="t"/>
          <a:lstStyle/>
          <a:p>
            <a:pPr marL="0" indent="0" algn="l">
              <a:lnSpc>
                <a:spcPts val="4850"/>
              </a:lnSpc>
              <a:buNone/>
            </a:pPr>
            <a:r>
              <a:rPr lang="en-US" sz="4000" b="1" dirty="0">
                <a:solidFill>
                  <a:srgbClr val="124E73"/>
                </a:solidFill>
                <a:latin typeface="MuseoModerno Medium" pitchFamily="34" charset="0"/>
                <a:ea typeface="MuseoModerno Medium" pitchFamily="34" charset="-122"/>
                <a:cs typeface="MuseoModerno Medium" pitchFamily="34" charset="-120"/>
              </a:rPr>
              <a:t>Conclusion &amp; Future Scope</a:t>
            </a:r>
            <a:endParaRPr lang="en-US" sz="4000" b="1" dirty="0"/>
          </a:p>
        </p:txBody>
      </p:sp>
      <p:sp>
        <p:nvSpPr>
          <p:cNvPr id="5" name="Text 3"/>
          <p:cNvSpPr/>
          <p:nvPr/>
        </p:nvSpPr>
        <p:spPr>
          <a:xfrm>
            <a:off x="793790" y="2315647"/>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124E73"/>
                </a:solidFill>
                <a:latin typeface="MuseoModerno Medium" pitchFamily="34" charset="0"/>
                <a:ea typeface="MuseoModerno Medium" pitchFamily="34" charset="-122"/>
                <a:cs typeface="MuseoModerno Medium" pitchFamily="34" charset="-120"/>
              </a:rPr>
              <a:t>Conclusion</a:t>
            </a:r>
            <a:endParaRPr lang="en-US" sz="2000" b="1" dirty="0"/>
          </a:p>
        </p:txBody>
      </p:sp>
      <p:sp>
        <p:nvSpPr>
          <p:cNvPr id="6" name="Text 4"/>
          <p:cNvSpPr/>
          <p:nvPr/>
        </p:nvSpPr>
        <p:spPr>
          <a:xfrm>
            <a:off x="793790" y="2824163"/>
            <a:ext cx="6279356" cy="2540318"/>
          </a:xfrm>
          <a:prstGeom prst="rect">
            <a:avLst/>
          </a:prstGeom>
          <a:noFill/>
          <a:ln/>
        </p:spPr>
        <p:txBody>
          <a:bodyPr wrap="square" lIns="0" tIns="0" rIns="0" bIns="0" rtlCol="0" anchor="t"/>
          <a:lstStyle/>
          <a:p>
            <a:pPr marL="0" indent="0" algn="l">
              <a:lnSpc>
                <a:spcPts val="2500"/>
              </a:lnSpc>
              <a:buNone/>
            </a:pPr>
            <a:r>
              <a:rPr lang="en-US" dirty="0">
                <a:solidFill>
                  <a:srgbClr val="2B4150"/>
                </a:solidFill>
                <a:latin typeface="Source Sans 3" pitchFamily="34" charset="0"/>
                <a:ea typeface="Source Sans 3" pitchFamily="34" charset="-122"/>
                <a:cs typeface="Source Sans 3" pitchFamily="34" charset="-120"/>
              </a:rPr>
              <a:t>The project successfully demonstrates how intraday financial data can be analyzed to identify volatility patterns using statistical techniques such as return calculation and rolling standard deviation. It highlights key market behaviors including volatility clustering and increased activity during opening and closing hours. The system achieves its objective of transforming raw intraday data into meaningful insights, showing that even simple analytical approaches can support trading decisions and risk management.</a:t>
            </a:r>
            <a:endParaRPr lang="en-US" dirty="0"/>
          </a:p>
        </p:txBody>
      </p:sp>
      <p:sp>
        <p:nvSpPr>
          <p:cNvPr id="7" name="Shape 5"/>
          <p:cNvSpPr/>
          <p:nvPr/>
        </p:nvSpPr>
        <p:spPr>
          <a:xfrm>
            <a:off x="7538382" y="2047876"/>
            <a:ext cx="6565106" cy="3663672"/>
          </a:xfrm>
          <a:prstGeom prst="roundRect">
            <a:avLst>
              <a:gd name="adj" fmla="val 813"/>
            </a:avLst>
          </a:prstGeom>
          <a:solidFill>
            <a:srgbClr val="063E5F"/>
          </a:solidFill>
          <a:ln/>
        </p:spPr>
      </p:sp>
      <p:sp>
        <p:nvSpPr>
          <p:cNvPr id="8" name="Text 6"/>
          <p:cNvSpPr/>
          <p:nvPr/>
        </p:nvSpPr>
        <p:spPr>
          <a:xfrm>
            <a:off x="7620357" y="2315647"/>
            <a:ext cx="2480905" cy="310158"/>
          </a:xfrm>
          <a:prstGeom prst="rect">
            <a:avLst/>
          </a:prstGeom>
          <a:noFill/>
          <a:ln/>
        </p:spPr>
        <p:txBody>
          <a:bodyPr wrap="none" lIns="0" tIns="0" rIns="0" bIns="0" rtlCol="0" anchor="t"/>
          <a:lstStyle/>
          <a:p>
            <a:pPr marL="0" indent="0" algn="l">
              <a:lnSpc>
                <a:spcPts val="2400"/>
              </a:lnSpc>
              <a:buNone/>
            </a:pPr>
            <a:r>
              <a:rPr lang="en-US" sz="2000" b="1" dirty="0">
                <a:solidFill>
                  <a:srgbClr val="FFFFFF"/>
                </a:solidFill>
                <a:latin typeface="MuseoModerno Medium" pitchFamily="34" charset="0"/>
                <a:ea typeface="MuseoModerno Medium" pitchFamily="34" charset="-122"/>
                <a:cs typeface="MuseoModerno Medium" pitchFamily="34" charset="-120"/>
              </a:rPr>
              <a:t>Future Scope</a:t>
            </a:r>
            <a:endParaRPr lang="en-US" sz="2000" b="1" dirty="0"/>
          </a:p>
        </p:txBody>
      </p:sp>
      <p:sp>
        <p:nvSpPr>
          <p:cNvPr id="9" name="Text 7"/>
          <p:cNvSpPr/>
          <p:nvPr/>
        </p:nvSpPr>
        <p:spPr>
          <a:xfrm>
            <a:off x="7620357" y="2824163"/>
            <a:ext cx="6168390" cy="2887385"/>
          </a:xfrm>
          <a:prstGeom prst="rect">
            <a:avLst/>
          </a:prstGeom>
          <a:noFill/>
          <a:ln/>
        </p:spPr>
        <p:txBody>
          <a:bodyPr wrap="square" lIns="0" tIns="0" rIns="0" bIns="0" rtlCol="0" anchor="t"/>
          <a:lstStyle/>
          <a:p>
            <a:pPr marL="342900" indent="-342900" algn="just">
              <a:lnSpc>
                <a:spcPts val="2500"/>
              </a:lnSpc>
              <a:buSzPct val="100000"/>
              <a:buChar char="•"/>
            </a:pPr>
            <a:r>
              <a:rPr lang="en-US" dirty="0">
                <a:solidFill>
                  <a:srgbClr val="FFFFFF"/>
                </a:solidFill>
                <a:latin typeface="Source Sans 3" pitchFamily="34" charset="0"/>
                <a:ea typeface="Source Sans 3" pitchFamily="34" charset="-122"/>
                <a:cs typeface="Source Sans 3" pitchFamily="34" charset="-120"/>
              </a:rPr>
              <a:t>Integration of real-time data for live volatility tracking</a:t>
            </a:r>
            <a:endParaRPr lang="en-US" dirty="0"/>
          </a:p>
          <a:p>
            <a:pPr marL="342900" indent="-342900" algn="just">
              <a:lnSpc>
                <a:spcPts val="2500"/>
              </a:lnSpc>
              <a:buSzPct val="100000"/>
              <a:buChar char="•"/>
            </a:pPr>
            <a:r>
              <a:rPr lang="en-US" dirty="0">
                <a:solidFill>
                  <a:srgbClr val="FFFFFF"/>
                </a:solidFill>
                <a:latin typeface="Source Sans 3" pitchFamily="34" charset="0"/>
                <a:ea typeface="Source Sans 3" pitchFamily="34" charset="-122"/>
                <a:cs typeface="Source Sans 3" pitchFamily="34" charset="-120"/>
              </a:rPr>
              <a:t>Advanced machine learning models for more accurate predictions</a:t>
            </a:r>
            <a:endParaRPr lang="en-US" dirty="0"/>
          </a:p>
          <a:p>
            <a:pPr marL="342900" indent="-342900" algn="just">
              <a:lnSpc>
                <a:spcPts val="2500"/>
              </a:lnSpc>
              <a:buSzPct val="100000"/>
              <a:buChar char="•"/>
            </a:pPr>
            <a:r>
              <a:rPr lang="en-US" dirty="0">
                <a:solidFill>
                  <a:srgbClr val="FFFFFF"/>
                </a:solidFill>
                <a:latin typeface="Source Sans 3" pitchFamily="34" charset="0"/>
                <a:ea typeface="Source Sans 3" pitchFamily="34" charset="-122"/>
                <a:cs typeface="Source Sans 3" pitchFamily="34" charset="-120"/>
              </a:rPr>
              <a:t>Incorporation of additional indicators and technical analysis tools</a:t>
            </a:r>
            <a:endParaRPr lang="en-US" dirty="0"/>
          </a:p>
          <a:p>
            <a:pPr marL="342900" indent="-342900" algn="just">
              <a:lnSpc>
                <a:spcPts val="2500"/>
              </a:lnSpc>
              <a:buSzPct val="100000"/>
              <a:buChar char="•"/>
            </a:pPr>
            <a:r>
              <a:rPr lang="en-US" dirty="0">
                <a:solidFill>
                  <a:srgbClr val="FFFFFF"/>
                </a:solidFill>
                <a:latin typeface="Source Sans 3" pitchFamily="34" charset="0"/>
                <a:ea typeface="Source Sans 3" pitchFamily="34" charset="-122"/>
                <a:cs typeface="Source Sans 3" pitchFamily="34" charset="-120"/>
              </a:rPr>
              <a:t>Development of a user-friendly web or mobile application interface</a:t>
            </a:r>
            <a:endParaRPr lang="en-US" dirty="0"/>
          </a:p>
          <a:p>
            <a:pPr marL="342900" indent="-342900" algn="just">
              <a:lnSpc>
                <a:spcPts val="2500"/>
              </a:lnSpc>
              <a:buSzPct val="100000"/>
              <a:buChar char="•"/>
            </a:pPr>
            <a:r>
              <a:rPr lang="en-US" dirty="0">
                <a:solidFill>
                  <a:srgbClr val="FFFFFF"/>
                </a:solidFill>
                <a:latin typeface="Source Sans 3" pitchFamily="34" charset="0"/>
                <a:ea typeface="Source Sans 3" pitchFamily="34" charset="-122"/>
                <a:cs typeface="Source Sans 3" pitchFamily="34" charset="-120"/>
              </a:rPr>
              <a:t>Extension to multiple financial markets (stocks, forex, cryptocurrencies)</a:t>
            </a:r>
            <a:endParaRPr lang="en-US" dirty="0"/>
          </a:p>
          <a:p>
            <a:pPr marL="342900" indent="-342900" algn="just">
              <a:lnSpc>
                <a:spcPts val="2500"/>
              </a:lnSpc>
              <a:buSzPct val="100000"/>
              <a:buChar char="•"/>
            </a:pPr>
            <a:r>
              <a:rPr lang="en-US" dirty="0">
                <a:solidFill>
                  <a:srgbClr val="FFFFFF"/>
                </a:solidFill>
                <a:latin typeface="Source Sans 3" pitchFamily="34" charset="0"/>
                <a:ea typeface="Source Sans 3" pitchFamily="34" charset="-122"/>
                <a:cs typeface="Source Sans 3" pitchFamily="34" charset="-120"/>
              </a:rPr>
              <a:t>Implementation of automated trading strategies based on detected volatility</a:t>
            </a:r>
            <a:endParaRPr lang="en-US" dirty="0"/>
          </a:p>
        </p:txBody>
      </p:sp>
      <p:sp>
        <p:nvSpPr>
          <p:cNvPr id="10" name="Shape 8"/>
          <p:cNvSpPr/>
          <p:nvPr/>
        </p:nvSpPr>
        <p:spPr>
          <a:xfrm>
            <a:off x="793790" y="6004203"/>
            <a:ext cx="13042821" cy="1478280"/>
          </a:xfrm>
          <a:prstGeom prst="roundRect">
            <a:avLst>
              <a:gd name="adj" fmla="val 2014"/>
            </a:avLst>
          </a:prstGeom>
          <a:solidFill>
            <a:srgbClr val="C9DDE9"/>
          </a:solidFill>
          <a:ln/>
        </p:spPr>
      </p:sp>
      <p:pic>
        <p:nvPicPr>
          <p:cNvPr id="11" name="Image 0" descr="preencoded.png"/>
          <p:cNvPicPr>
            <a:picLocks noChangeAspect="1"/>
          </p:cNvPicPr>
          <p:nvPr/>
        </p:nvPicPr>
        <p:blipFill>
          <a:blip r:embed="rId3"/>
          <a:stretch>
            <a:fillRect/>
          </a:stretch>
        </p:blipFill>
        <p:spPr>
          <a:xfrm>
            <a:off x="992148" y="6299478"/>
            <a:ext cx="248007" cy="198358"/>
          </a:xfrm>
          <a:prstGeom prst="rect">
            <a:avLst/>
          </a:prstGeom>
        </p:spPr>
      </p:pic>
      <p:sp>
        <p:nvSpPr>
          <p:cNvPr id="12" name="Text 9"/>
          <p:cNvSpPr/>
          <p:nvPr/>
        </p:nvSpPr>
        <p:spPr>
          <a:xfrm>
            <a:off x="1438513" y="6252091"/>
            <a:ext cx="12199739" cy="952619"/>
          </a:xfrm>
          <a:prstGeom prst="rect">
            <a:avLst/>
          </a:prstGeom>
          <a:noFill/>
          <a:ln/>
        </p:spPr>
        <p:txBody>
          <a:bodyPr wrap="square" lIns="0" tIns="0" rIns="0" bIns="0" rtlCol="0" anchor="t"/>
          <a:lstStyle/>
          <a:p>
            <a:pPr marL="0" indent="0" algn="l">
              <a:lnSpc>
                <a:spcPts val="2500"/>
              </a:lnSpc>
              <a:buNone/>
            </a:pPr>
            <a:r>
              <a:rPr lang="en-US" sz="1600" b="1" dirty="0">
                <a:solidFill>
                  <a:srgbClr val="000000"/>
                </a:solidFill>
                <a:latin typeface="Source Sans 3" pitchFamily="34" charset="0"/>
                <a:ea typeface="Source Sans 3" pitchFamily="34" charset="-122"/>
                <a:cs typeface="Source Sans 3" pitchFamily="34" charset="-120"/>
              </a:rPr>
              <a:t>References: Engle (1982) — ARCH Model; Bollerslev (1986) — GARCH; Tsay (2010) — Financial Time Series; Hull (2018) — Options &amp; Derivatives; Pandas, NumPy, Matplotlib Documentation (2024); Research Paper: Intraday Volatility Patterns (ResearchGate); GitHub: </a:t>
            </a:r>
            <a:r>
              <a:rPr lang="en-US" sz="1600" b="1" u="sng" dirty="0">
                <a:solidFill>
                  <a:srgbClr val="325F7B"/>
                </a:solidFill>
                <a:latin typeface="Source Sans 3" pitchFamily="34" charset="0"/>
                <a:ea typeface="Source Sans 3" pitchFamily="34" charset="-122"/>
                <a:cs typeface="Source Sans 3" pitchFamily="34" charset="-120"/>
                <a:hlinkClick r:id="rId4">
                  <a:extLst>
                    <a:ext uri="{A12FA001-AC4F-418D-AE19-62706E023703}">
                      <ahyp:hlinkClr xmlns:ahyp="http://schemas.microsoft.com/office/drawing/2018/hyperlinkcolor" val="tx"/>
                    </a:ext>
                  </a:extLst>
                </a:hlinkClick>
              </a:rPr>
              <a:t>Volatility Detection in Intraday Market</a:t>
            </a:r>
            <a:endParaRPr lang="en-US" sz="1600" b="1" dirty="0"/>
          </a:p>
        </p:txBody>
      </p:sp>
      <p:sp>
        <p:nvSpPr>
          <p:cNvPr id="13" name="Rectangle 12">
            <a:extLst>
              <a:ext uri="{FF2B5EF4-FFF2-40B4-BE49-F238E27FC236}">
                <a16:creationId xmlns:a16="http://schemas.microsoft.com/office/drawing/2014/main" id="{07F36AFC-F7B2-4E42-8686-B6481E5D8571}"/>
              </a:ext>
            </a:extLst>
          </p:cNvPr>
          <p:cNvSpPr/>
          <p:nvPr/>
        </p:nvSpPr>
        <p:spPr>
          <a:xfrm flipV="1">
            <a:off x="12662703" y="7639291"/>
            <a:ext cx="1967697" cy="499420"/>
          </a:xfrm>
          <a:prstGeom prst="rect">
            <a:avLst/>
          </a:prstGeom>
          <a:solidFill>
            <a:srgbClr val="FFFCF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2000" b="1"/>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6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826</TotalTime>
  <Words>1273</Words>
  <Application>Microsoft Office PowerPoint</Application>
  <PresentationFormat>Custom</PresentationFormat>
  <Paragraphs>145</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Source Sans 3</vt:lpstr>
      <vt:lpstr>Arial</vt:lpstr>
      <vt:lpstr>MuseoModerno Medium</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Jaydeep agale</dc:creator>
  <cp:lastModifiedBy>Jaydeep agale</cp:lastModifiedBy>
  <cp:revision>15</cp:revision>
  <dcterms:created xsi:type="dcterms:W3CDTF">2026-04-15T03:56:45Z</dcterms:created>
  <dcterms:modified xsi:type="dcterms:W3CDTF">2026-04-24T05:55:29Z</dcterms:modified>
</cp:coreProperties>
</file>